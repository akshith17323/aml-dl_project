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da31fae-50e3-96e9-6e56-c8021f691798}">
          <p14:sldIdLst>
            <p14:sldId id="256"/>
            <p14:sldId id="257"/>
          </p14:sldIdLst>
        </p14:section>
        <p14:section name="Data and methods" id="{e3beafe2-4b6d-13f8-60b3-acfbae67c2aa}">
          <p14:sldIdLst>
            <p14:sldId id="258"/>
            <p14:sldId id="259"/>
            <p14:sldId id="260"/>
            <p14:sldId id="261"/>
            <p14:sldId id="262"/>
            <p14:sldId id="263"/>
          </p14:sldIdLst>
        </p14:section>
        <p14:section name="Results" id="{fa3909cd-3cf5-1c8f-5a6a-3dad63316771}">
          <p14:sldIdLst>
            <p14:sldId id="264"/>
            <p14:sldId id="265"/>
            <p14:sldId id="266"/>
            <p14:sldId id="267"/>
            <p14:sldId id="268"/>
          </p14:sldIdLst>
        </p14:section>
        <p14:section name="Software" id="{f6e14937-9947-6f9e-4772-3ccb38deca38}">
          <p14:sldIdLst>
            <p14:sldId id="269"/>
            <p14:sldId id="270"/>
          </p14:sldIdLst>
        </p14:section>
        <p14:section name="Conclusion" id="{475b2c1a-9aaf-5849-bb41-845abaed8f53}">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130"/>
                </a:solidFill>
                <a:latin typeface="+mn-lt"/>
              </a:defRPr>
            </a:pPr>
            <a:r>
              <a:rPr sz="1400" b="0" i="0" u="none" strike="noStrike">
                <a:solidFill>
                  <a:srgbClr val="1B2130"/>
                </a:solidFill>
                <a:latin typeface="+mn-lt"/>
              </a:rPr>
              <a:t>Patients by diagnosis level num (1–4 grouped as disease)</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5B6475"/>
            </a:solidFill>
            <a:effectLst/>
          </c:spPr>
          <c:invertIfNegative val="0"/>
          <c:dLbls>
            <c:numFmt formatCode="#,##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dPt>
            <c:idx val="0"/>
            <c:invertIfNegative val="0"/>
            <c:bubble3D val="0"/>
            <c:spPr>
              <a:solidFill>
                <a:srgbClr val="5B6475"/>
              </a:solidFill>
              <a:effectLst/>
            </c:spPr>
          </c:dPt>
          <c:dPt>
            <c:idx val="1"/>
            <c:invertIfNegative val="0"/>
            <c:bubble3D val="0"/>
            <c:spPr>
              <a:solidFill>
                <a:srgbClr val="A3172F"/>
              </a:solidFill>
              <a:effectLst/>
            </c:spPr>
          </c:dPt>
          <c:dPt>
            <c:idx val="2"/>
            <c:invertIfNegative val="0"/>
            <c:bubble3D val="0"/>
            <c:spPr>
              <a:solidFill>
                <a:srgbClr val="A3172F"/>
              </a:solidFill>
              <a:effectLst/>
            </c:spPr>
          </c:dPt>
          <c:dPt>
            <c:idx val="3"/>
            <c:invertIfNegative val="0"/>
            <c:bubble3D val="0"/>
            <c:spPr>
              <a:solidFill>
                <a:srgbClr val="A3172F"/>
              </a:solidFill>
              <a:effectLst/>
            </c:spPr>
          </c:dPt>
          <c:dPt>
            <c:idx val="4"/>
            <c:invertIfNegative val="0"/>
            <c:bubble3D val="0"/>
            <c:spPr>
              <a:solidFill>
                <a:srgbClr val="A3172F"/>
              </a:solidFill>
              <a:effectLst/>
            </c:spPr>
          </c:dPt>
          <c:cat>
            <c:multiLvlStrRef>
              <c:f>Sheet1!$A$2:$A$6</c:f>
              <c:multiLvlStrCache>
                <c:ptCount val="5"/>
                <c:lvl>
                  <c:pt idx="0">
                    <c:v>0 (none)</c:v>
                  </c:pt>
                  <c:pt idx="1">
                    <c:v>1</c:v>
                  </c:pt>
                  <c:pt idx="2">
                    <c:v>2</c:v>
                  </c:pt>
                  <c:pt idx="3">
                    <c:v>3</c:v>
                  </c:pt>
                  <c:pt idx="4">
                    <c:v>4</c:v>
                  </c:pt>
                </c:lvl>
              </c:multiLvlStrCache>
            </c:multiLvlStrRef>
          </c:cat>
          <c:val>
            <c:numRef>
              <c:f>Sheet1!$B$2:$B$6</c:f>
              <c:numCache>
                <c:formatCode>General</c:formatCode>
                <c:ptCount val="5"/>
                <c:pt idx="0">
                  <c:v>164</c:v>
                </c:pt>
                <c:pt idx="1">
                  <c:v>55</c:v>
                </c:pt>
                <c:pt idx="2">
                  <c:v>36</c:v>
                </c:pt>
                <c:pt idx="3">
                  <c:v>35</c:v>
                </c:pt>
                <c:pt idx="4">
                  <c:v>13</c:v>
                </c:pt>
              </c:numCache>
            </c:numRef>
          </c:val>
        </c:ser>
        <c:dLbls>
          <c:numFmt formatCode="#,##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B6475"/>
                    </a:solidFill>
                    <a:latin typeface="+mn-lt"/>
                  </a:defRPr>
                </a:pPr>
                <a:r>
                  <a:rPr sz="1100" b="0" i="0" u="none" strike="noStrike">
                    <a:solidFill>
                      <a:srgbClr val="5B6475"/>
                    </a:solidFill>
                    <a:latin typeface="+mn-lt"/>
                  </a:rPr>
                  <a:t>num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130"/>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D5D9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130"/>
                </a:solidFill>
                <a:latin typeface="+mn-lt"/>
              </a:defRPr>
            </a:pPr>
            <a:r>
              <a:rPr sz="1400" b="0" i="0" u="none" strike="noStrike">
                <a:solidFill>
                  <a:srgbClr val="1B2130"/>
                </a:solidFill>
                <a:latin typeface="+mn-lt"/>
              </a:rPr>
              <a:t>Calibration slope (ideal = 1)</a:t>
            </a:r>
          </a:p>
        </c:rich>
      </c:tx>
      <c:layout/>
      <c:overlay val="0"/>
    </c:title>
    <c:autoTitleDeleted val="0"/>
    <c:plotArea>
      <c:layout/>
      <c:barChart>
        <c:barDir val="bar"/>
        <c:grouping val="clustered"/>
        <c:varyColors val="0"/>
        <c:ser>
          <c:idx val="0"/>
          <c:order val="0"/>
          <c:tx>
            <c:strRef>
              <c:f>Sheet1!$B$1</c:f>
              <c:strCache>
                <c:ptCount val="1"/>
                <c:pt idx="0">
                  <c:v>Calibration slope</c:v>
                </c:pt>
              </c:strCache>
            </c:strRef>
          </c:tx>
          <c:spPr>
            <a:solidFill>
              <a:srgbClr val="0072B2"/>
            </a:solidFill>
            <a:effectLst/>
          </c:spPr>
          <c:invertIfNegative val="0"/>
          <c:dLbls>
            <c:numFmt formatCode="0.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dPt>
            <c:idx val="2"/>
            <c:invertIfNegative val="0"/>
            <c:bubble3D val="0"/>
            <c:spPr>
              <a:solidFill>
                <a:srgbClr val="009E73"/>
              </a:solidFill>
              <a:effectLst/>
            </c:spPr>
          </c:dPt>
          <c:cat>
            <c:multiLvlStrRef>
              <c:f>Sheet1!$A$2:$A$4</c:f>
              <c:multiLvlStrCache>
                <c:ptCount val="3"/>
                <c:lvl>
                  <c:pt idx="0">
                    <c:v>Bayesian network</c:v>
                  </c:pt>
                  <c:pt idx="1">
                    <c:v>Naive Bayes</c:v>
                  </c:pt>
                  <c:pt idx="2">
                    <c:v>MLP</c:v>
                  </c:pt>
                </c:lvl>
              </c:multiLvlStrCache>
            </c:multiLvlStrRef>
          </c:cat>
          <c:val>
            <c:numRef>
              <c:f>Sheet1!$B$2:$B$4</c:f>
              <c:numCache>
                <c:formatCode>General</c:formatCode>
                <c:ptCount val="3"/>
                <c:pt idx="0">
                  <c:v>0.62</c:v>
                </c:pt>
                <c:pt idx="1">
                  <c:v>0.51</c:v>
                </c:pt>
                <c:pt idx="2">
                  <c:v>1.1</c:v>
                </c:pt>
              </c:numCache>
            </c:numRef>
          </c:val>
        </c:ser>
        <c:dLbls>
          <c:numFmt formatCode="0.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130"/>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D5D9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130"/>
                </a:solidFill>
                <a:latin typeface="+mn-lt"/>
              </a:defRPr>
            </a:pPr>
            <a:r>
              <a:rPr sz="1400" b="0" i="0" u="none" strike="noStrike">
                <a:solidFill>
                  <a:srgbClr val="1B2130"/>
                </a:solidFill>
                <a:latin typeface="+mn-lt"/>
              </a:rPr>
              <a:t>Mean errors per repeat at threshold 0.5 (303 patients, 139 with disease)</a:t>
            </a:r>
          </a:p>
        </c:rich>
      </c:tx>
      <c:layout/>
      <c:overlay val="0"/>
    </c:title>
    <c:autoTitleDeleted val="0"/>
    <c:plotArea>
      <c:layout/>
      <c:barChart>
        <c:barDir val="col"/>
        <c:grouping val="clustered"/>
        <c:varyColors val="0"/>
        <c:ser>
          <c:idx val="0"/>
          <c:order val="0"/>
          <c:tx>
            <c:strRef>
              <c:f>Sheet1!$B$1</c:f>
              <c:strCache>
                <c:ptCount val="1"/>
                <c:pt idx="0">
                  <c:v>Missed disease (false negatives)</c:v>
                </c:pt>
              </c:strCache>
            </c:strRef>
          </c:tx>
          <c:spPr>
            <a:solidFill>
              <a:srgbClr val="A3172F"/>
            </a:solidFill>
            <a:effectLst/>
          </c:spPr>
          <c:invertIfNegative val="0"/>
          <c:dLbls>
            <c:numFmt formatCode="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cat>
            <c:multiLvlStrRef>
              <c:f>Sheet1!$A$2:$A$4</c:f>
              <c:multiLvlStrCache>
                <c:ptCount val="3"/>
                <c:lvl>
                  <c:pt idx="0">
                    <c:v>Bayesian network</c:v>
                  </c:pt>
                  <c:pt idx="1">
                    <c:v>Naive Bayes</c:v>
                  </c:pt>
                  <c:pt idx="2">
                    <c:v>MLP</c:v>
                  </c:pt>
                </c:lvl>
              </c:multiLvlStrCache>
            </c:multiLvlStrRef>
          </c:cat>
          <c:val>
            <c:numRef>
              <c:f>Sheet1!$B$2:$B$4</c:f>
              <c:numCache>
                <c:formatCode>General</c:formatCode>
                <c:ptCount val="3"/>
                <c:pt idx="0">
                  <c:v>29.6</c:v>
                </c:pt>
                <c:pt idx="1">
                  <c:v>27.4</c:v>
                </c:pt>
                <c:pt idx="2">
                  <c:v>27.4</c:v>
                </c:pt>
              </c:numCache>
            </c:numRef>
          </c:val>
        </c:ser>
        <c:ser>
          <c:idx val="1"/>
          <c:order val="1"/>
          <c:tx>
            <c:strRef>
              <c:f>Sheet1!$C$1</c:f>
              <c:strCache>
                <c:ptCount val="1"/>
                <c:pt idx="0">
                  <c:v>False alarms (false positives)</c:v>
                </c:pt>
              </c:strCache>
            </c:strRef>
          </c:tx>
          <c:spPr>
            <a:solidFill>
              <a:srgbClr val="5B6475"/>
            </a:solidFill>
            <a:effectLst/>
          </c:spPr>
          <c:invertIfNegative val="0"/>
          <c:dLbls>
            <c:numFmt formatCode="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cat>
            <c:multiLvlStrRef>
              <c:f>Sheet1!$A$2:$A$4</c:f>
              <c:multiLvlStrCache>
                <c:ptCount val="3"/>
                <c:lvl>
                  <c:pt idx="0">
                    <c:v>Bayesian network</c:v>
                  </c:pt>
                  <c:pt idx="1">
                    <c:v>Naive Bayes</c:v>
                  </c:pt>
                  <c:pt idx="2">
                    <c:v>MLP</c:v>
                  </c:pt>
                </c:lvl>
              </c:multiLvlStrCache>
            </c:multiLvlStrRef>
          </c:cat>
          <c:val>
            <c:numRef>
              <c:f>Sheet1!$C$2:$C$4</c:f>
              <c:numCache>
                <c:formatCode>General</c:formatCode>
                <c:ptCount val="3"/>
                <c:pt idx="0">
                  <c:v>25</c:v>
                </c:pt>
                <c:pt idx="1">
                  <c:v>24.6</c:v>
                </c:pt>
                <c:pt idx="2">
                  <c:v>22.2</c:v>
                </c:pt>
              </c:numCache>
            </c:numRef>
          </c:val>
        </c:ser>
        <c:dLbls>
          <c:numFmt formatCode="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130"/>
                </a:solidFill>
                <a:latin typeface="+mn-lt"/>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D5D9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1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130"/>
                </a:solidFill>
                <a:latin typeface="+mn-lt"/>
              </a:defRPr>
            </a:pPr>
            <a:r>
              <a:rPr sz="1400" b="0" i="0" u="none" strike="noStrike">
                <a:solidFill>
                  <a:srgbClr val="1B2130"/>
                </a:solidFill>
                <a:latin typeface="+mn-lt"/>
              </a:rPr>
              <a:t>Mean absolute SHAP value (change in P(disease))</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09E73"/>
            </a:solidFill>
            <a:effectLst/>
          </c:spPr>
          <c:invertIfNegative val="0"/>
          <c:dLbls>
            <c:numFmt formatCode="0.0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cat>
            <c:multiLvlStrRef>
              <c:f>Sheet1!$A$2:$A$14</c:f>
              <c:multiLvlStrCache>
                <c:ptCount val="13"/>
                <c:lvl>
                  <c:pt idx="0">
                    <c:v>ca</c:v>
                  </c:pt>
                  <c:pt idx="1">
                    <c:v>cp</c:v>
                  </c:pt>
                  <c:pt idx="2">
                    <c:v>thal</c:v>
                  </c:pt>
                  <c:pt idx="3">
                    <c:v>oldpeak</c:v>
                  </c:pt>
                  <c:pt idx="4">
                    <c:v>slope</c:v>
                  </c:pt>
                  <c:pt idx="5">
                    <c:v>trestbps</c:v>
                  </c:pt>
                  <c:pt idx="6">
                    <c:v>thalach</c:v>
                  </c:pt>
                  <c:pt idx="7">
                    <c:v>sex</c:v>
                  </c:pt>
                  <c:pt idx="8">
                    <c:v>exang</c:v>
                  </c:pt>
                  <c:pt idx="9">
                    <c:v>restecg</c:v>
                  </c:pt>
                  <c:pt idx="10">
                    <c:v>chol</c:v>
                  </c:pt>
                  <c:pt idx="11">
                    <c:v>age</c:v>
                  </c:pt>
                  <c:pt idx="12">
                    <c:v>fbs</c:v>
                  </c:pt>
                </c:lvl>
              </c:multiLvlStrCache>
            </c:multiLvlStrRef>
          </c:cat>
          <c:val>
            <c:numRef>
              <c:f>Sheet1!$B$2:$B$14</c:f>
              <c:numCache>
                <c:formatCode>General</c:formatCode>
                <c:ptCount val="13"/>
                <c:pt idx="0">
                  <c:v>0.104</c:v>
                </c:pt>
                <c:pt idx="1">
                  <c:v>0.089</c:v>
                </c:pt>
                <c:pt idx="2">
                  <c:v>0.085</c:v>
                </c:pt>
                <c:pt idx="3">
                  <c:v>0.055</c:v>
                </c:pt>
                <c:pt idx="4">
                  <c:v>0.044</c:v>
                </c:pt>
                <c:pt idx="5">
                  <c:v>0.039</c:v>
                </c:pt>
                <c:pt idx="6">
                  <c:v>0.038</c:v>
                </c:pt>
                <c:pt idx="7">
                  <c:v>0.024</c:v>
                </c:pt>
                <c:pt idx="8">
                  <c:v>0.024</c:v>
                </c:pt>
                <c:pt idx="9">
                  <c:v>0.022</c:v>
                </c:pt>
                <c:pt idx="10">
                  <c:v>0.011</c:v>
                </c:pt>
                <c:pt idx="11">
                  <c:v>0.005</c:v>
                </c:pt>
                <c:pt idx="12">
                  <c:v>0.002</c:v>
                </c:pt>
              </c:numCache>
            </c:numRef>
          </c:val>
        </c:ser>
        <c:dLbls>
          <c:numFmt formatCode="0.000" sourceLinked="0"/>
          <c:txPr>
            <a:bodyPr/>
            <a:lstStyle/>
            <a:p>
              <a:pPr>
                <a:defRPr b="0" i="0" strike="noStrike" sz="1200" u="none">
                  <a:solidFill>
                    <a:srgbClr val="1B21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130"/>
                </a:solidFill>
                <a:latin typeface="+mn-lt"/>
              </a:defRPr>
            </a:pPr>
            <a:endParaRPr lang="en-US"/>
          </a:p>
        </c:txPr>
        <c:crossAx val="2094734552"/>
        <c:crosses val="autoZero"/>
        <c:auto val="1"/>
        <c:lblAlgn val="ctr"/>
        <c:noMultiLvlLbl val="1"/>
      </c:catAx>
      <c:valAx>
        <c:axId val="2094734552"/>
        <c:scaling>
          <c:orientation val="minMax"/>
          <c:max val="0.125"/>
          <c:min val="0"/>
        </c:scaling>
        <c:delete val="1"/>
        <c:axPos val="b"/>
        <c:majorGridlines>
          <c:spPr>
            <a:ln w="6350" cap="flat">
              <a:solidFill>
                <a:srgbClr val="D5D9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One-line framing: this is an academic machine-learning comparison on a public dataset, not a diagnostic system. We compare three probabilistic classifiers and care about two things: how well they rank patients and how trustworthy their probabilities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headline first. The three models are statistically indistinguishable at ranking patients. Where they differ is probability quality: the MLP's probabilities are closer to observed frequencies, while the Bayesian network and Naive Bayes push predictions towards 0 and 1. Everything is internal validation on a small single-centre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processed Cleveland file from the UCI repository, CC BY 4.0. We keep the original five-level diagnosis but collapse it into disease versus no disease. Important caveat: several of the strongest predictors come from specialist tests, so any performance here does not transfer to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is descriptive. The oldpeak-slope correlation later motivated one edge in the Bayesian network, which we flag honestly because it means the structure is not fully independent of the data. Correlation is not causation: the asymptomatic chest pain finding is a referral effect, not a protective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data-dependent quantity, such as medians, scaling statistics, categories and bin edges, is learned inside the training fold and refitted in every inner and outer fold. That is what makes the evaluation leakage-safe. The two branches differ because the MLP needs scaled numbers while the Bayesian models need finite state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Bayesian network encodes assumed dependencies explicitly. Naive Bayes is the simplest Bayesian network and uses exactly the same inputs, so comparing the two tells us whether the extra edges help. The MLP can learn interactions, but has 481 parameters for about 240 training rows, so we kept it small and regularised. Model colours stay the same on every chart: blue BN, orange Naive Bayes, green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sex and cholesterol are parents of disease; most test findings are children of disease. Two extra edges, chest pain to exercise angina and oldpeak to slope, relax the Naive Bayes independence assumption. Target has three parents, which gives 18 parent configurations with about 13 training rows each, so we deliberately kept it sparse.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the same cross-validation for both tuning and reporting is optimistic, so we nest it. Five repeats were chosen before looking at results because a single 5-fold split of 303 patients is noisy. Integrity checks run on every evaluation: every patient predicted exactly once per repeat, probabilities valid, identical folds across models. A test confirms that shuffling the outer labels changes no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curves almost lie on top of each other. The nominally highest AUC belongs to the Bayesian network, but the gap is tiny compared with the uncertainty. Fold-level means are 0.912, 0.907 and 0.907, with standard deviations of 0.03 to 0.04 across the 25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model is scored on exactly the same patients, we can bootstrap the differences directly. For ranking, all intervals include zero. Log loss, which punishes confident mistakes, separates Naive Bayes from the other two. We examined many intervals without correcting for multiplicity, so treat this as suggestive.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models really differ. The Bayesian network and Naive Bayes put about 30 percent of predictions above 0.9 and almost 40 percent below 0.1, and those extremes are less certain than claimed. The MLP's curve follows the diagonal. Naive Bayes is worst, consistent with its violated independence assumption; the network's extra edges only partly help. Caveat: BN and NB always chose the largest smoothing value in the grid, so stronger smoothing might reduce over-confidence.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Hard-label performance is similar across models: sensitivity around 0.80 and specificity 0.85 to 0.87. Roughly 27 to 30 of the 139 diseased patients are missed per repeat, which would be a serious weakness in any screening setting. A training-data-selected Youden threshold did not help and varied from 0.21 to 0.80 across folds, so we keep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five repeat-0 folds we refitted each MLP and explained the held-out patients with SHAP KernelExplainer and with permutation importance. The leading features all come from invasive or specialist tests, which reinforces that this is not a triage model. The ranking was not used to change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two minutes: run streamlit run app/streamlit_app.py and open localhost:8501. Show the Model results page, then the Risk estimator with the default values, press Estimate, then Explain the MLP output. Point at the disclaimer and the calibration warning under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seed in config.yaml drives every random step. A clean rebuild found and fixed one real reproducibility bug: SHAP's KernelExplainer used NumPy's unseeded global random generator; it is now seeded per fold. All checks were re-run on 26 October 2026: 135 tests passed and the audit passed 28 of 28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widen the smoothing grid after seeing the results, to avoid tuning on the test data; that is a legitimate next experiment if it is declared in advance and rerun end to end. The other three databases in the UCI archive offer a natural external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in three sentences, then open for questions. Likely questions: why not more complex models (small tabular data, literature says they rarely help), why nested CV (to avoid optimistic estimates), and why the MLP is better calibrated (regularisation, and BN/NB independence assumptions push probabilities to extremes).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749040"/>
            <a:ext cx="10058400" cy="82296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
        <p:nvSpPr>
          <p:cNvPr id="4" name="Text 0"/>
          <p:cNvSpPr/>
          <p:nvPr>
            <p:ph idx="102" type="body" hasCustomPrompt="1"/>
          </p:nvPr>
        </p:nvSpPr>
        <p:spPr>
          <a:xfrm>
            <a:off x="731520" y="5669280"/>
            <a:ext cx="10058400" cy="548640"/>
          </a:xfrm>
          <a:prstGeom prst="rect">
            <a:avLst/>
          </a:prstGeom>
          <a:noFill/>
          <a:ln/>
        </p:spPr>
        <p:txBody>
          <a:bodyPr wrap="square" rtlCol="0"/>
          <a:lstStyle>
            <a:lvl1pPr indent="0" marL="0">
              <a:buNone/>
              <a:defRPr lang="en-US" sz="1400" dirty="0">
                <a:solidFill>
                  <a:schemeClr val="accent6"/>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Heart disease risk modelling · academic study, not a diagnostic tool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82296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Heart Disease Risk Modelling</a:t>
            </a:r>
            <a:endParaRPr lang="en-US" sz="4400" dirty="0"/>
          </a:p>
        </p:txBody>
      </p:sp>
      <p:sp>
        <p:nvSpPr>
          <p:cNvPr id="3" name="Text 0"/>
          <p:cNvSpPr/>
          <p:nvPr>
            <p:ph idx="101" type="body" hasCustomPrompt="1"/>
          </p:nvPr>
        </p:nvSpPr>
        <p:spPr>
          <a:xfrm>
            <a:off x="731520" y="3749040"/>
            <a:ext cx="10058400" cy="822960"/>
          </a:xfrm>
          <a:prstGeom prst="rect">
            <a:avLst/>
          </a:prstGeom>
          <a:noFill/>
          <a:ln/>
        </p:spPr>
        <p:txBody>
          <a:bodyPr wrap="square" lIns="0" tIns="0" rIns="0" bIns="0" rtlCol="0" anchor="t"/>
          <a:lstStyle/>
          <a:p>
            <a:pPr indent="0" marL="0">
              <a:buNone/>
            </a:pPr>
            <a:r>
              <a:rPr lang="en-US" sz="2000" dirty="0">
                <a:solidFill>
                  <a:schemeClr val="accent6"/>
                </a:solidFill>
              </a:rPr>
              <a:t>Bayesian network vs Naive Bayes vs a small neural network on 303 Cleveland patients, under one leakage-safe nested cross-validation</a:t>
            </a:r>
            <a:endParaRPr lang="en-US" sz="2000" dirty="0"/>
          </a:p>
        </p:txBody>
      </p:sp>
      <p:sp>
        <p:nvSpPr>
          <p:cNvPr id="4" name="Text 0"/>
          <p:cNvSpPr/>
          <p:nvPr>
            <p:ph idx="102" type="body" hasCustomPrompt="1"/>
          </p:nvPr>
        </p:nvSpPr>
        <p:spPr>
          <a:xfrm>
            <a:off x="731520" y="5669280"/>
            <a:ext cx="10058400" cy="548640"/>
          </a:xfrm>
          <a:prstGeom prst="rect">
            <a:avLst/>
          </a:prstGeom>
          <a:noFill/>
          <a:ln/>
        </p:spPr>
        <p:txBody>
          <a:bodyPr wrap="square" lIns="0" tIns="0" rIns="0" bIns="0" rtlCol="0" anchor="t"/>
          <a:lstStyle/>
          <a:p>
            <a:pPr indent="0" marL="0">
              <a:buNone/>
            </a:pPr>
            <a:r>
              <a:rPr lang="en-US" sz="1400" dirty="0">
                <a:solidFill>
                  <a:schemeClr val="accent6"/>
                </a:solidFill>
              </a:rPr>
              <a:t>Team: [add member names]   ·   [Course / institution]   ·   October 2026</a:t>
            </a:r>
            <a:endParaRPr lang="en-US" sz="1400" dirty="0"/>
          </a:p>
        </p:txBody>
      </p:sp>
      <p:pic>
        <p:nvPicPr>
          <p:cNvPr id="5" name="heart icon" descr="preencoded.png">    </p:cNvPr>
          <p:cNvPicPr>
            <a:picLocks noChangeAspect="1"/>
          </p:cNvPicPr>
          <p:nvPr/>
        </p:nvPicPr>
        <p:blipFill>
          <a:blip r:embed="rId1"/>
          <a:stretch>
            <a:fillRect/>
          </a:stretch>
        </p:blipFill>
        <p:spPr>
          <a:xfrm>
            <a:off x="731520" y="731520"/>
            <a:ext cx="822960" cy="822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question, and the short answer</a:t>
            </a:r>
            <a:endParaRPr lang="en-US" sz="3400" dirty="0"/>
          </a:p>
        </p:txBody>
      </p:sp>
      <p:sp>
        <p:nvSpPr>
          <p:cNvPr id="3" name="question card"/>
          <p:cNvSpPr/>
          <p:nvPr/>
        </p:nvSpPr>
        <p:spPr>
          <a:xfrm>
            <a:off x="548640" y="1417320"/>
            <a:ext cx="4206240" cy="4663440"/>
          </a:xfrm>
          <a:prstGeom prst="roundRect">
            <a:avLst>
              <a:gd name="adj" fmla="val 2609"/>
            </a:avLst>
          </a:prstGeom>
          <a:solidFill>
            <a:schemeClr val="tx2"/>
          </a:solidFill>
          <a:ln/>
        </p:spPr>
      </p:sp>
      <p:sp>
        <p:nvSpPr>
          <p:cNvPr id="4" name="Text 2"/>
          <p:cNvSpPr txBox="1"/>
          <p:nvPr/>
        </p:nvSpPr>
        <p:spPr>
          <a:xfrm>
            <a:off x="868680" y="1691640"/>
            <a:ext cx="3566160" cy="320040"/>
          </a:xfrm>
          <a:prstGeom prst="rect">
            <a:avLst/>
          </a:prstGeom>
          <a:noFill/>
          <a:ln/>
        </p:spPr>
        <p:txBody>
          <a:bodyPr wrap="square" lIns="0" tIns="0" rIns="0" bIns="0" rtlCol="0" anchor="t"/>
          <a:lstStyle/>
          <a:p>
            <a:pPr indent="0" marL="0">
              <a:buNone/>
            </a:pPr>
            <a:r>
              <a:rPr lang="en-US" sz="1200" b="1" spc="200" kern="0" dirty="0">
                <a:solidFill>
                  <a:schemeClr val="accent6"/>
                </a:solidFill>
              </a:rPr>
              <a:t>RESEARCH QUESTION</a:t>
            </a:r>
            <a:endParaRPr lang="en-US" sz="1200" dirty="0"/>
          </a:p>
        </p:txBody>
      </p:sp>
      <p:sp>
        <p:nvSpPr>
          <p:cNvPr id="5" name="Text 3"/>
          <p:cNvSpPr txBox="1"/>
          <p:nvPr/>
        </p:nvSpPr>
        <p:spPr>
          <a:xfrm>
            <a:off x="868680" y="2103120"/>
            <a:ext cx="3566160" cy="2560320"/>
          </a:xfrm>
          <a:prstGeom prst="rect">
            <a:avLst/>
          </a:prstGeom>
          <a:noFill/>
          <a:ln/>
        </p:spPr>
        <p:txBody>
          <a:bodyPr wrap="square" lIns="0" tIns="0" rIns="0" bIns="0" rtlCol="0" anchor="t"/>
          <a:lstStyle/>
          <a:p>
            <a:pPr indent="0" marL="0">
              <a:buNone/>
            </a:pPr>
            <a:r>
              <a:rPr lang="en-US" sz="1800" dirty="0">
                <a:solidFill>
                  <a:schemeClr val="bg1"/>
                </a:solidFill>
                <a:latin typeface="Cambria" pitchFamily="34" charset="0"/>
                <a:ea typeface="Cambria" pitchFamily="34" charset="-122"/>
                <a:cs typeface="Cambria" pitchFamily="34" charset="-120"/>
              </a:rPr>
              <a:t>Under the same leakage-safe evaluation, do a domain-informed Bayesian network, Naive Bayes and a small MLP differ in how well they rank patients and in how well their probabilities are calibrated?</a:t>
            </a:r>
            <a:endParaRPr lang="en-US" sz="1800" dirty="0"/>
          </a:p>
        </p:txBody>
      </p:sp>
      <p:sp>
        <p:nvSpPr>
          <p:cNvPr id="6" name="Text 4"/>
          <p:cNvSpPr txBox="1"/>
          <p:nvPr/>
        </p:nvSpPr>
        <p:spPr>
          <a:xfrm>
            <a:off x="868680" y="4846320"/>
            <a:ext cx="3566160" cy="822960"/>
          </a:xfrm>
          <a:prstGeom prst="rect">
            <a:avLst/>
          </a:prstGeom>
          <a:noFill/>
          <a:ln/>
        </p:spPr>
        <p:txBody>
          <a:bodyPr wrap="square" lIns="0" tIns="0" rIns="0" bIns="0" rtlCol="0" anchor="t"/>
          <a:lstStyle/>
          <a:p>
            <a:pPr indent="0" marL="0">
              <a:buNone/>
            </a:pPr>
            <a:r>
              <a:rPr lang="en-US" sz="1600" i="1" dirty="0">
                <a:solidFill>
                  <a:schemeClr val="accent6"/>
                </a:solidFill>
              </a:rPr>
              <a:t>And how certain can we be with only 303 patients?</a:t>
            </a:r>
            <a:endParaRPr lang="en-US" sz="1600" dirty="0"/>
          </a:p>
        </p:txBody>
      </p:sp>
      <p:sp>
        <p:nvSpPr>
          <p:cNvPr id="7" name="answer card 1"/>
          <p:cNvSpPr/>
          <p:nvPr/>
        </p:nvSpPr>
        <p:spPr>
          <a:xfrm>
            <a:off x="5120640" y="1417320"/>
            <a:ext cx="6492240" cy="1371600"/>
          </a:xfrm>
          <a:prstGeom prst="roundRect">
            <a:avLst>
              <a:gd name="adj" fmla="val 8000"/>
            </a:avLst>
          </a:prstGeom>
          <a:solidFill>
            <a:schemeClr val="bg2"/>
          </a:solidFill>
          <a:ln/>
        </p:spPr>
      </p:sp>
      <p:sp>
        <p:nvSpPr>
          <p:cNvPr id="8" name="answer 1 circle"/>
          <p:cNvSpPr/>
          <p:nvPr/>
        </p:nvSpPr>
        <p:spPr>
          <a:xfrm>
            <a:off x="5349240" y="1737360"/>
            <a:ext cx="731520" cy="731520"/>
          </a:xfrm>
          <a:prstGeom prst="ellipse">
            <a:avLst/>
          </a:prstGeom>
          <a:solidFill>
            <a:schemeClr val="accent1"/>
          </a:solidFill>
          <a:ln/>
        </p:spPr>
      </p:sp>
      <p:pic>
        <p:nvPicPr>
          <p:cNvPr id="9" name="answer 1 icon" descr="preencoded.png">    </p:cNvPr>
          <p:cNvPicPr>
            <a:picLocks noChangeAspect="1"/>
          </p:cNvPicPr>
          <p:nvPr/>
        </p:nvPicPr>
        <p:blipFill>
          <a:blip r:embed="rId1"/>
          <a:stretch>
            <a:fillRect/>
          </a:stretch>
        </p:blipFill>
        <p:spPr>
          <a:xfrm>
            <a:off x="5532120" y="1920240"/>
            <a:ext cx="365760" cy="365760"/>
          </a:xfrm>
          <a:prstGeom prst="rect">
            <a:avLst/>
          </a:prstGeom>
        </p:spPr>
      </p:pic>
      <p:sp>
        <p:nvSpPr>
          <p:cNvPr id="10" name="Text 7"/>
          <p:cNvSpPr txBox="1"/>
          <p:nvPr/>
        </p:nvSpPr>
        <p:spPr>
          <a:xfrm>
            <a:off x="6309360" y="1600200"/>
            <a:ext cx="5120640" cy="365760"/>
          </a:xfrm>
          <a:prstGeom prst="rect">
            <a:avLst/>
          </a:prstGeom>
          <a:noFill/>
          <a:ln/>
        </p:spPr>
        <p:txBody>
          <a:bodyPr wrap="square" lIns="0" tIns="0" rIns="0" bIns="0" rtlCol="0" anchor="t"/>
          <a:lstStyle/>
          <a:p>
            <a:pPr indent="0" marL="0">
              <a:buNone/>
            </a:pPr>
            <a:r>
              <a:rPr lang="en-US" sz="1800" b="1" dirty="0">
                <a:solidFill>
                  <a:schemeClr val="tx2"/>
                </a:solidFill>
              </a:rPr>
              <a:t>Ranking: a tie</a:t>
            </a:r>
            <a:endParaRPr lang="en-US" sz="1800" dirty="0"/>
          </a:p>
        </p:txBody>
      </p:sp>
      <p:sp>
        <p:nvSpPr>
          <p:cNvPr id="11" name="Text 8"/>
          <p:cNvSpPr txBox="1"/>
          <p:nvPr/>
        </p:nvSpPr>
        <p:spPr>
          <a:xfrm>
            <a:off x="6309360" y="1984248"/>
            <a:ext cx="5120640" cy="731520"/>
          </a:xfrm>
          <a:prstGeom prst="rect">
            <a:avLst/>
          </a:prstGeom>
          <a:noFill/>
          <a:ln/>
        </p:spPr>
        <p:txBody>
          <a:bodyPr wrap="square" lIns="0" tIns="0" rIns="0" bIns="0" rtlCol="0" anchor="t"/>
          <a:lstStyle/>
          <a:p>
            <a:pPr indent="0" marL="0">
              <a:buNone/>
            </a:pPr>
            <a:r>
              <a:rPr lang="en-US" sz="1400" dirty="0">
                <a:solidFill>
                  <a:schemeClr val="tx1"/>
                </a:solidFill>
              </a:rPr>
              <a:t>ROC AUC 0.90–0.91 for all three models. Every paired difference has a 95% interval that includes zero.</a:t>
            </a:r>
            <a:endParaRPr lang="en-US" sz="1400" dirty="0"/>
          </a:p>
        </p:txBody>
      </p:sp>
      <p:sp>
        <p:nvSpPr>
          <p:cNvPr id="12" name="answer card 2"/>
          <p:cNvSpPr/>
          <p:nvPr/>
        </p:nvSpPr>
        <p:spPr>
          <a:xfrm>
            <a:off x="5120640" y="3017520"/>
            <a:ext cx="6492240" cy="1371600"/>
          </a:xfrm>
          <a:prstGeom prst="roundRect">
            <a:avLst>
              <a:gd name="adj" fmla="val 8000"/>
            </a:avLst>
          </a:prstGeom>
          <a:solidFill>
            <a:schemeClr val="bg2"/>
          </a:solidFill>
          <a:ln/>
        </p:spPr>
      </p:sp>
      <p:sp>
        <p:nvSpPr>
          <p:cNvPr id="13" name="answer 2 circle"/>
          <p:cNvSpPr/>
          <p:nvPr/>
        </p:nvSpPr>
        <p:spPr>
          <a:xfrm>
            <a:off x="5349240" y="3337560"/>
            <a:ext cx="731520" cy="731520"/>
          </a:xfrm>
          <a:prstGeom prst="ellipse">
            <a:avLst/>
          </a:prstGeom>
          <a:solidFill>
            <a:schemeClr val="accent3"/>
          </a:solidFill>
          <a:ln/>
        </p:spPr>
      </p:sp>
      <p:pic>
        <p:nvPicPr>
          <p:cNvPr id="14" name="answer 2 icon" descr="preencoded.png">    </p:cNvPr>
          <p:cNvPicPr>
            <a:picLocks noChangeAspect="1"/>
          </p:cNvPicPr>
          <p:nvPr/>
        </p:nvPicPr>
        <p:blipFill>
          <a:blip r:embed="rId2"/>
          <a:stretch>
            <a:fillRect/>
          </a:stretch>
        </p:blipFill>
        <p:spPr>
          <a:xfrm>
            <a:off x="5532120" y="3520440"/>
            <a:ext cx="365760" cy="365760"/>
          </a:xfrm>
          <a:prstGeom prst="rect">
            <a:avLst/>
          </a:prstGeom>
        </p:spPr>
      </p:pic>
      <p:sp>
        <p:nvSpPr>
          <p:cNvPr id="15" name="Text 11"/>
          <p:cNvSpPr txBox="1"/>
          <p:nvPr/>
        </p:nvSpPr>
        <p:spPr>
          <a:xfrm>
            <a:off x="6309360" y="3200400"/>
            <a:ext cx="5120640" cy="365760"/>
          </a:xfrm>
          <a:prstGeom prst="rect">
            <a:avLst/>
          </a:prstGeom>
          <a:noFill/>
          <a:ln/>
        </p:spPr>
        <p:txBody>
          <a:bodyPr wrap="square" lIns="0" tIns="0" rIns="0" bIns="0" rtlCol="0" anchor="t"/>
          <a:lstStyle/>
          <a:p>
            <a:pPr indent="0" marL="0">
              <a:buNone/>
            </a:pPr>
            <a:r>
              <a:rPr lang="en-US" sz="1800" b="1" dirty="0">
                <a:solidFill>
                  <a:schemeClr val="tx2"/>
                </a:solidFill>
              </a:rPr>
              <a:t>Probabilities: MLP best calibrated</a:t>
            </a:r>
            <a:endParaRPr lang="en-US" sz="1800" dirty="0"/>
          </a:p>
        </p:txBody>
      </p:sp>
      <p:sp>
        <p:nvSpPr>
          <p:cNvPr id="16" name="Text 12"/>
          <p:cNvSpPr txBox="1"/>
          <p:nvPr/>
        </p:nvSpPr>
        <p:spPr>
          <a:xfrm>
            <a:off x="6309360" y="3584448"/>
            <a:ext cx="5120640" cy="731520"/>
          </a:xfrm>
          <a:prstGeom prst="rect">
            <a:avLst/>
          </a:prstGeom>
          <a:noFill/>
          <a:ln/>
        </p:spPr>
        <p:txBody>
          <a:bodyPr wrap="square" lIns="0" tIns="0" rIns="0" bIns="0" rtlCol="0" anchor="t"/>
          <a:lstStyle/>
          <a:p>
            <a:pPr indent="0" marL="0">
              <a:buNone/>
            </a:pPr>
            <a:r>
              <a:rPr lang="en-US" sz="1400" dirty="0">
                <a:solidFill>
                  <a:schemeClr val="tx1"/>
                </a:solidFill>
              </a:rPr>
              <a:t>Calibration slope 1.10 for the MLP vs 0.62 (BN) and 0.51 (Naive Bayes), which are over-confident. Exploratory.</a:t>
            </a:r>
            <a:endParaRPr lang="en-US" sz="1400" dirty="0"/>
          </a:p>
        </p:txBody>
      </p:sp>
      <p:sp>
        <p:nvSpPr>
          <p:cNvPr id="17" name="answer card 3"/>
          <p:cNvSpPr/>
          <p:nvPr/>
        </p:nvSpPr>
        <p:spPr>
          <a:xfrm>
            <a:off x="5120640" y="4617720"/>
            <a:ext cx="6492240" cy="1371600"/>
          </a:xfrm>
          <a:prstGeom prst="roundRect">
            <a:avLst>
              <a:gd name="adj" fmla="val 8000"/>
            </a:avLst>
          </a:prstGeom>
          <a:solidFill>
            <a:schemeClr val="bg2"/>
          </a:solidFill>
          <a:ln/>
        </p:spPr>
      </p:sp>
      <p:sp>
        <p:nvSpPr>
          <p:cNvPr id="18" name="answer 3 circle"/>
          <p:cNvSpPr/>
          <p:nvPr/>
        </p:nvSpPr>
        <p:spPr>
          <a:xfrm>
            <a:off x="5349240" y="4937760"/>
            <a:ext cx="731520" cy="731520"/>
          </a:xfrm>
          <a:prstGeom prst="ellipse">
            <a:avLst/>
          </a:prstGeom>
          <a:solidFill>
            <a:schemeClr val="accent4"/>
          </a:solidFill>
          <a:ln/>
        </p:spPr>
      </p:sp>
      <p:pic>
        <p:nvPicPr>
          <p:cNvPr id="19" name="answer 3 icon" descr="preencoded.png">    </p:cNvPr>
          <p:cNvPicPr>
            <a:picLocks noChangeAspect="1"/>
          </p:cNvPicPr>
          <p:nvPr/>
        </p:nvPicPr>
        <p:blipFill>
          <a:blip r:embed="rId3"/>
          <a:stretch>
            <a:fillRect/>
          </a:stretch>
        </p:blipFill>
        <p:spPr>
          <a:xfrm>
            <a:off x="5532120" y="5120640"/>
            <a:ext cx="365760" cy="365760"/>
          </a:xfrm>
          <a:prstGeom prst="rect">
            <a:avLst/>
          </a:prstGeom>
        </p:spPr>
      </p:pic>
      <p:sp>
        <p:nvSpPr>
          <p:cNvPr id="20" name="Text 15"/>
          <p:cNvSpPr txBox="1"/>
          <p:nvPr/>
        </p:nvSpPr>
        <p:spPr>
          <a:xfrm>
            <a:off x="6309360" y="4800600"/>
            <a:ext cx="5120640" cy="365760"/>
          </a:xfrm>
          <a:prstGeom prst="rect">
            <a:avLst/>
          </a:prstGeom>
          <a:noFill/>
          <a:ln/>
        </p:spPr>
        <p:txBody>
          <a:bodyPr wrap="square" lIns="0" tIns="0" rIns="0" bIns="0" rtlCol="0" anchor="t"/>
          <a:lstStyle/>
          <a:p>
            <a:pPr indent="0" marL="0">
              <a:buNone/>
            </a:pPr>
            <a:r>
              <a:rPr lang="en-US" sz="1800" b="1" dirty="0">
                <a:solidFill>
                  <a:schemeClr val="tx2"/>
                </a:solidFill>
              </a:rPr>
              <a:t>Limits: internal evidence only</a:t>
            </a:r>
            <a:endParaRPr lang="en-US" sz="1800" dirty="0"/>
          </a:p>
        </p:txBody>
      </p:sp>
      <p:sp>
        <p:nvSpPr>
          <p:cNvPr id="21" name="Text 16"/>
          <p:cNvSpPr txBox="1"/>
          <p:nvPr/>
        </p:nvSpPr>
        <p:spPr>
          <a:xfrm>
            <a:off x="6309360" y="5184648"/>
            <a:ext cx="5120640" cy="731520"/>
          </a:xfrm>
          <a:prstGeom prst="rect">
            <a:avLst/>
          </a:prstGeom>
          <a:noFill/>
          <a:ln/>
        </p:spPr>
        <p:txBody>
          <a:bodyPr wrap="square" lIns="0" tIns="0" rIns="0" bIns="0" rtlCol="0" anchor="t"/>
          <a:lstStyle/>
          <a:p>
            <a:pPr indent="0" marL="0">
              <a:buNone/>
            </a:pPr>
            <a:r>
              <a:rPr lang="en-US" sz="1400" dirty="0">
                <a:solidFill>
                  <a:schemeClr val="tx1"/>
                </a:solidFill>
              </a:rPr>
              <a:t>One centre, 303 patients, no external validation. Not clinical evidence.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Dataset: UCI Heart Disease, Cleveland subset</a:t>
            </a:r>
            <a:endParaRPr lang="en-US" sz="3400" dirty="0"/>
          </a:p>
        </p:txBody>
      </p:sp>
      <p:sp>
        <p:nvSpPr>
          <p:cNvPr id="3" name="Text 1"/>
          <p:cNvSpPr txBox="1"/>
          <p:nvPr/>
        </p:nvSpPr>
        <p:spPr>
          <a:xfrm>
            <a:off x="548640" y="1463040"/>
            <a:ext cx="1737360" cy="68580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303</a:t>
            </a:r>
            <a:endParaRPr lang="en-US" sz="3600" dirty="0"/>
          </a:p>
        </p:txBody>
      </p:sp>
      <p:sp>
        <p:nvSpPr>
          <p:cNvPr id="4" name="Text 2"/>
          <p:cNvSpPr txBox="1"/>
          <p:nvPr/>
        </p:nvSpPr>
        <p:spPr>
          <a:xfrm>
            <a:off x="548640" y="2148840"/>
            <a:ext cx="1463040" cy="548640"/>
          </a:xfrm>
          <a:prstGeom prst="rect">
            <a:avLst/>
          </a:prstGeom>
          <a:noFill/>
          <a:ln/>
        </p:spPr>
        <p:txBody>
          <a:bodyPr wrap="square" lIns="0" tIns="0" rIns="0" bIns="0" rtlCol="0" anchor="t"/>
          <a:lstStyle/>
          <a:p>
            <a:pPr indent="0" marL="0">
              <a:buNone/>
            </a:pPr>
            <a:r>
              <a:rPr lang="en-US" sz="1200" dirty="0">
                <a:solidFill>
                  <a:schemeClr val="accent5"/>
                </a:solidFill>
              </a:rPr>
              <a:t>patients</a:t>
            </a:r>
            <a:endParaRPr lang="en-US" sz="1200" dirty="0"/>
          </a:p>
        </p:txBody>
      </p:sp>
      <p:sp>
        <p:nvSpPr>
          <p:cNvPr id="5" name="Text 3"/>
          <p:cNvSpPr txBox="1"/>
          <p:nvPr/>
        </p:nvSpPr>
        <p:spPr>
          <a:xfrm>
            <a:off x="1783080" y="1463040"/>
            <a:ext cx="1737360" cy="68580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13</a:t>
            </a:r>
            <a:endParaRPr lang="en-US" sz="3600" dirty="0"/>
          </a:p>
        </p:txBody>
      </p:sp>
      <p:sp>
        <p:nvSpPr>
          <p:cNvPr id="6" name="Text 4"/>
          <p:cNvSpPr txBox="1"/>
          <p:nvPr/>
        </p:nvSpPr>
        <p:spPr>
          <a:xfrm>
            <a:off x="1783080" y="2148840"/>
            <a:ext cx="1463040" cy="548640"/>
          </a:xfrm>
          <a:prstGeom prst="rect">
            <a:avLst/>
          </a:prstGeom>
          <a:noFill/>
          <a:ln/>
        </p:spPr>
        <p:txBody>
          <a:bodyPr wrap="square" lIns="0" tIns="0" rIns="0" bIns="0" rtlCol="0" anchor="t"/>
          <a:lstStyle/>
          <a:p>
            <a:pPr indent="0" marL="0">
              <a:buNone/>
            </a:pPr>
            <a:r>
              <a:rPr lang="en-US" sz="1200" dirty="0">
                <a:solidFill>
                  <a:schemeClr val="accent5"/>
                </a:solidFill>
              </a:rPr>
              <a:t>predictors</a:t>
            </a:r>
            <a:endParaRPr lang="en-US" sz="1200" dirty="0"/>
          </a:p>
        </p:txBody>
      </p:sp>
      <p:sp>
        <p:nvSpPr>
          <p:cNvPr id="7" name="Text 5"/>
          <p:cNvSpPr txBox="1"/>
          <p:nvPr/>
        </p:nvSpPr>
        <p:spPr>
          <a:xfrm>
            <a:off x="2880360" y="1463040"/>
            <a:ext cx="1737360" cy="68580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45.9%</a:t>
            </a:r>
            <a:endParaRPr lang="en-US" sz="3600" dirty="0"/>
          </a:p>
        </p:txBody>
      </p:sp>
      <p:sp>
        <p:nvSpPr>
          <p:cNvPr id="8" name="Text 6"/>
          <p:cNvSpPr txBox="1"/>
          <p:nvPr/>
        </p:nvSpPr>
        <p:spPr>
          <a:xfrm>
            <a:off x="2880360" y="2148840"/>
            <a:ext cx="1463040" cy="548640"/>
          </a:xfrm>
          <a:prstGeom prst="rect">
            <a:avLst/>
          </a:prstGeom>
          <a:noFill/>
          <a:ln/>
        </p:spPr>
        <p:txBody>
          <a:bodyPr wrap="square" lIns="0" tIns="0" rIns="0" bIns="0" rtlCol="0" anchor="t"/>
          <a:lstStyle/>
          <a:p>
            <a:pPr indent="0" marL="0">
              <a:buNone/>
            </a:pPr>
            <a:r>
              <a:rPr lang="en-US" sz="1200" dirty="0">
                <a:solidFill>
                  <a:schemeClr val="accent5"/>
                </a:solidFill>
              </a:rPr>
              <a:t>have disease (139)</a:t>
            </a:r>
            <a:endParaRPr lang="en-US" sz="1200" dirty="0"/>
          </a:p>
        </p:txBody>
      </p:sp>
      <p:sp>
        <p:nvSpPr>
          <p:cNvPr id="9" name="Text 7"/>
          <p:cNvSpPr txBox="1"/>
          <p:nvPr/>
        </p:nvSpPr>
        <p:spPr>
          <a:xfrm>
            <a:off x="4754880" y="1463040"/>
            <a:ext cx="1737360" cy="68580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4754880" y="2148840"/>
            <a:ext cx="1463040" cy="548640"/>
          </a:xfrm>
          <a:prstGeom prst="rect">
            <a:avLst/>
          </a:prstGeom>
          <a:noFill/>
          <a:ln/>
        </p:spPr>
        <p:txBody>
          <a:bodyPr wrap="square" lIns="0" tIns="0" rIns="0" bIns="0" rtlCol="0" anchor="t"/>
          <a:lstStyle/>
          <a:p>
            <a:pPr indent="0" marL="0">
              <a:buNone/>
            </a:pPr>
            <a:r>
              <a:rPr lang="en-US" sz="1200" dirty="0">
                <a:solidFill>
                  <a:schemeClr val="accent5"/>
                </a:solidFill>
              </a:rPr>
              <a:t>rows with a missing value</a:t>
            </a:r>
            <a:endParaRPr lang="en-US" sz="1200" dirty="0"/>
          </a:p>
        </p:txBody>
      </p:sp>
      <p:sp>
        <p:nvSpPr>
          <p:cNvPr id="11" name="Text 9"/>
          <p:cNvSpPr txBox="1"/>
          <p:nvPr/>
        </p:nvSpPr>
        <p:spPr>
          <a:xfrm>
            <a:off x="548640" y="2971800"/>
            <a:ext cx="5577840" cy="31089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Target: disease = 1 if angiographic diagnosis num is 1–4, else 0</a:t>
            </a:r>
            <a:endParaRPr lang="en-US" sz="1500" dirty="0"/>
          </a:p>
          <a:p>
            <a:pPr marL="342900" indent="-342900">
              <a:spcAft>
                <a:spcPts val="800"/>
              </a:spcAft>
              <a:buSzPct val="100000"/>
              <a:buChar char="•"/>
            </a:pPr>
            <a:r>
              <a:rPr lang="en-US" sz="1500" dirty="0">
                <a:solidFill>
                  <a:schemeClr val="tx1"/>
                </a:solidFill>
              </a:rPr>
              <a:t>Close to balanced: 164 negative, 139 positive</a:t>
            </a:r>
            <a:endParaRPr lang="en-US" sz="1500" dirty="0"/>
          </a:p>
          <a:p>
            <a:pPr marL="342900" indent="-342900">
              <a:spcAft>
                <a:spcPts val="800"/>
              </a:spcAft>
              <a:buSzPct val="100000"/>
              <a:buChar char="•"/>
            </a:pPr>
            <a:r>
              <a:rPr lang="en-US" sz="1500" dirty="0">
                <a:solidFill>
                  <a:schemeClr val="tx1"/>
                </a:solidFill>
              </a:rPr>
              <a:t>No duplicates or impossible values; ca (4) and thal (2) missing</a:t>
            </a:r>
            <a:endParaRPr lang="en-US" sz="1500" dirty="0"/>
          </a:p>
          <a:p>
            <a:pPr marL="342900" indent="-342900">
              <a:spcAft>
                <a:spcPts val="800"/>
              </a:spcAft>
              <a:buSzPct val="100000"/>
              <a:buChar char="•"/>
            </a:pPr>
            <a:r>
              <a:rPr lang="en-US" sz="1500" dirty="0">
                <a:solidFill>
                  <a:schemeClr val="tx1"/>
                </a:solidFill>
              </a:rPr>
              <a:t>Six predictors come from exercise tests, fluoroscopy and imaging, so this is a diagnostic work-up, not first-contact triage</a:t>
            </a:r>
            <a:endParaRPr lang="en-US" sz="1500" dirty="0"/>
          </a:p>
        </p:txBody>
      </p:sp>
      <p:graphicFrame>
        <p:nvGraphicFramePr>
          <p:cNvPr id="12" name="Chart 0" descr=""/>
          <p:cNvGraphicFramePr/>
          <p:nvPr/>
        </p:nvGraphicFramePr>
        <p:xfrm>
          <a:off x="6492240" y="1371600"/>
          <a:ext cx="512064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the exploratory analysis showed</a:t>
            </a:r>
            <a:endParaRPr lang="en-US" sz="3400" dirty="0"/>
          </a:p>
        </p:txBody>
      </p:sp>
      <p:pic>
        <p:nvPicPr>
          <p:cNvPr id="3" name="correlation heatmap" descr="Spearman correlation heatmap of the 13 predictors and the target">    </p:cNvPr>
          <p:cNvPicPr>
            <a:picLocks noChangeAspect="1"/>
          </p:cNvPicPr>
          <p:nvPr/>
        </p:nvPicPr>
        <p:blipFill>
          <a:blip r:embed="rId1"/>
          <a:stretch>
            <a:fillRect/>
          </a:stretch>
        </p:blipFill>
        <p:spPr>
          <a:xfrm>
            <a:off x="548640" y="1468755"/>
            <a:ext cx="5669280" cy="4606290"/>
          </a:xfrm>
          <a:prstGeom prst="rect">
            <a:avLst/>
          </a:prstGeom>
        </p:spPr>
      </p:pic>
      <p:sp>
        <p:nvSpPr>
          <p:cNvPr id="4" name="eda card 1"/>
          <p:cNvSpPr/>
          <p:nvPr/>
        </p:nvSpPr>
        <p:spPr>
          <a:xfrm>
            <a:off x="6583680" y="1463040"/>
            <a:ext cx="5029200" cy="1371600"/>
          </a:xfrm>
          <a:prstGeom prst="roundRect">
            <a:avLst>
              <a:gd name="adj" fmla="val 8000"/>
            </a:avLst>
          </a:prstGeom>
          <a:solidFill>
            <a:schemeClr val="bg2"/>
          </a:solidFill>
          <a:ln/>
        </p:spPr>
      </p:sp>
      <p:sp>
        <p:nvSpPr>
          <p:cNvPr id="5" name="Text 2"/>
          <p:cNvSpPr txBox="1"/>
          <p:nvPr/>
        </p:nvSpPr>
        <p:spPr>
          <a:xfrm>
            <a:off x="6812280" y="1627632"/>
            <a:ext cx="4572000" cy="365760"/>
          </a:xfrm>
          <a:prstGeom prst="rect">
            <a:avLst/>
          </a:prstGeom>
          <a:noFill/>
          <a:ln/>
        </p:spPr>
        <p:txBody>
          <a:bodyPr wrap="square" lIns="0" tIns="0" rIns="0" bIns="0" rtlCol="0" anchor="t"/>
          <a:lstStyle/>
          <a:p>
            <a:pPr indent="0" marL="0">
              <a:buNone/>
            </a:pPr>
            <a:r>
              <a:rPr lang="en-US" sz="1700" b="1" dirty="0">
                <a:solidFill>
                  <a:schemeClr val="tx2"/>
                </a:solidFill>
              </a:rPr>
              <a:t>Only one strongly related predictor pair</a:t>
            </a:r>
            <a:endParaRPr lang="en-US" sz="1700" dirty="0"/>
          </a:p>
        </p:txBody>
      </p:sp>
      <p:sp>
        <p:nvSpPr>
          <p:cNvPr id="6" name="Text 3"/>
          <p:cNvSpPr txBox="1"/>
          <p:nvPr/>
        </p:nvSpPr>
        <p:spPr>
          <a:xfrm>
            <a:off x="6812280" y="2011680"/>
            <a:ext cx="4572000" cy="731520"/>
          </a:xfrm>
          <a:prstGeom prst="rect">
            <a:avLst/>
          </a:prstGeom>
          <a:noFill/>
          <a:ln/>
        </p:spPr>
        <p:txBody>
          <a:bodyPr wrap="square" lIns="0" tIns="0" rIns="0" bIns="0" rtlCol="0" anchor="t"/>
          <a:lstStyle/>
          <a:p>
            <a:pPr indent="0" marL="0">
              <a:buNone/>
            </a:pPr>
            <a:r>
              <a:rPr lang="en-US" sz="1400" dirty="0">
                <a:solidFill>
                  <a:schemeClr val="tx1"/>
                </a:solidFill>
              </a:rPr>
              <a:t>oldpeak and slope (Spearman 0.595); no feature duplicates another</a:t>
            </a:r>
            <a:endParaRPr lang="en-US" sz="1400" dirty="0"/>
          </a:p>
        </p:txBody>
      </p:sp>
      <p:sp>
        <p:nvSpPr>
          <p:cNvPr id="7" name="eda card 2"/>
          <p:cNvSpPr/>
          <p:nvPr/>
        </p:nvSpPr>
        <p:spPr>
          <a:xfrm>
            <a:off x="6583680" y="3063240"/>
            <a:ext cx="5029200" cy="1371600"/>
          </a:xfrm>
          <a:prstGeom prst="roundRect">
            <a:avLst>
              <a:gd name="adj" fmla="val 8000"/>
            </a:avLst>
          </a:prstGeom>
          <a:solidFill>
            <a:schemeClr val="bg2"/>
          </a:solidFill>
          <a:ln/>
        </p:spPr>
      </p:sp>
      <p:sp>
        <p:nvSpPr>
          <p:cNvPr id="8" name="Text 5"/>
          <p:cNvSpPr txBox="1"/>
          <p:nvPr/>
        </p:nvSpPr>
        <p:spPr>
          <a:xfrm>
            <a:off x="6812280" y="3227832"/>
            <a:ext cx="4572000" cy="365760"/>
          </a:xfrm>
          <a:prstGeom prst="rect">
            <a:avLst/>
          </a:prstGeom>
          <a:noFill/>
          <a:ln/>
        </p:spPr>
        <p:txBody>
          <a:bodyPr wrap="square" lIns="0" tIns="0" rIns="0" bIns="0" rtlCol="0" anchor="t"/>
          <a:lstStyle/>
          <a:p>
            <a:pPr indent="0" marL="0">
              <a:buNone/>
            </a:pPr>
            <a:r>
              <a:rPr lang="en-US" sz="1700" b="1" dirty="0">
                <a:solidFill>
                  <a:schemeClr val="tx2"/>
                </a:solidFill>
              </a:rPr>
              <a:t>Sparse categories</a:t>
            </a:r>
            <a:endParaRPr lang="en-US" sz="1700" dirty="0"/>
          </a:p>
        </p:txBody>
      </p:sp>
      <p:sp>
        <p:nvSpPr>
          <p:cNvPr id="9" name="Text 6"/>
          <p:cNvSpPr txBox="1"/>
          <p:nvPr/>
        </p:nvSpPr>
        <p:spPr>
          <a:xfrm>
            <a:off x="6812280" y="3611880"/>
            <a:ext cx="4572000" cy="731520"/>
          </a:xfrm>
          <a:prstGeom prst="rect">
            <a:avLst/>
          </a:prstGeom>
          <a:noFill/>
          <a:ln/>
        </p:spPr>
        <p:txBody>
          <a:bodyPr wrap="square" lIns="0" tIns="0" rIns="0" bIns="0" rtlCol="0" anchor="t"/>
          <a:lstStyle/>
          <a:p>
            <a:pPr indent="0" marL="0">
              <a:buNone/>
            </a:pPr>
            <a:r>
              <a:rPr lang="en-US" sz="1400" dirty="0">
                <a:solidFill>
                  <a:schemeClr val="tx1"/>
                </a:solidFill>
              </a:rPr>
              <a:t>restecg = 1 has 4 patients; thal = 6 has 18; ca = 3 has 20, so probability tables are unstable</a:t>
            </a:r>
            <a:endParaRPr lang="en-US" sz="1400" dirty="0"/>
          </a:p>
        </p:txBody>
      </p:sp>
      <p:sp>
        <p:nvSpPr>
          <p:cNvPr id="10" name="eda card 3"/>
          <p:cNvSpPr/>
          <p:nvPr/>
        </p:nvSpPr>
        <p:spPr>
          <a:xfrm>
            <a:off x="6583680" y="4663440"/>
            <a:ext cx="5029200" cy="1371600"/>
          </a:xfrm>
          <a:prstGeom prst="roundRect">
            <a:avLst>
              <a:gd name="adj" fmla="val 8000"/>
            </a:avLst>
          </a:prstGeom>
          <a:solidFill>
            <a:schemeClr val="bg2"/>
          </a:solidFill>
          <a:ln/>
        </p:spPr>
      </p:sp>
      <p:sp>
        <p:nvSpPr>
          <p:cNvPr id="11" name="Text 8"/>
          <p:cNvSpPr txBox="1"/>
          <p:nvPr/>
        </p:nvSpPr>
        <p:spPr>
          <a:xfrm>
            <a:off x="6812280" y="4828032"/>
            <a:ext cx="4572000" cy="365760"/>
          </a:xfrm>
          <a:prstGeom prst="rect">
            <a:avLst/>
          </a:prstGeom>
          <a:noFill/>
          <a:ln/>
        </p:spPr>
        <p:txBody>
          <a:bodyPr wrap="square" lIns="0" tIns="0" rIns="0" bIns="0" rtlCol="0" anchor="t"/>
          <a:lstStyle/>
          <a:p>
            <a:pPr indent="0" marL="0">
              <a:buNone/>
            </a:pPr>
            <a:r>
              <a:rPr lang="en-US" sz="1700" b="1" dirty="0">
                <a:solidFill>
                  <a:schemeClr val="tx2"/>
                </a:solidFill>
              </a:rPr>
              <a:t>Referral bias is visible</a:t>
            </a:r>
            <a:endParaRPr lang="en-US" sz="1700" dirty="0"/>
          </a:p>
        </p:txBody>
      </p:sp>
      <p:sp>
        <p:nvSpPr>
          <p:cNvPr id="12" name="Text 9"/>
          <p:cNvSpPr txBox="1"/>
          <p:nvPr/>
        </p:nvSpPr>
        <p:spPr>
          <a:xfrm>
            <a:off x="6812280" y="5212080"/>
            <a:ext cx="4572000" cy="731520"/>
          </a:xfrm>
          <a:prstGeom prst="rect">
            <a:avLst/>
          </a:prstGeom>
          <a:noFill/>
          <a:ln/>
        </p:spPr>
        <p:txBody>
          <a:bodyPr wrap="square" lIns="0" tIns="0" rIns="0" bIns="0" rtlCol="0" anchor="t"/>
          <a:lstStyle/>
          <a:p>
            <a:pPr indent="0" marL="0">
              <a:buNone/>
            </a:pPr>
            <a:r>
              <a:rPr lang="en-US" sz="1400" dirty="0">
                <a:solidFill>
                  <a:schemeClr val="tx1"/>
                </a:solidFill>
              </a:rPr>
              <a:t>Asymptomatic chest pain has the highest disease rate (0.73), which reflects who was sent for angiography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Leakage-safe preprocessing</a:t>
            </a:r>
            <a:endParaRPr lang="en-US" sz="3400" dirty="0"/>
          </a:p>
        </p:txBody>
      </p:sp>
      <p:sp>
        <p:nvSpPr>
          <p:cNvPr id="3" name="step 1"/>
          <p:cNvSpPr/>
          <p:nvPr/>
        </p:nvSpPr>
        <p:spPr>
          <a:xfrm>
            <a:off x="548640" y="1463040"/>
            <a:ext cx="2057400" cy="1371600"/>
          </a:xfrm>
          <a:prstGeom prst="roundRect">
            <a:avLst>
              <a:gd name="adj" fmla="val 8000"/>
            </a:avLst>
          </a:prstGeom>
          <a:solidFill>
            <a:schemeClr val="bg2"/>
          </a:solidFill>
          <a:ln/>
        </p:spPr>
      </p:sp>
      <p:sp>
        <p:nvSpPr>
          <p:cNvPr id="4" name="Text 2"/>
          <p:cNvSpPr txBox="1"/>
          <p:nvPr/>
        </p:nvSpPr>
        <p:spPr>
          <a:xfrm>
            <a:off x="731520" y="1572768"/>
            <a:ext cx="457200" cy="365760"/>
          </a:xfrm>
          <a:prstGeom prst="rect">
            <a:avLst/>
          </a:prstGeom>
          <a:noFill/>
          <a:ln/>
        </p:spPr>
        <p:txBody>
          <a:bodyPr wrap="square" lIns="0" tIns="0" rIns="0" bIns="0" rtlCol="0" anchor="t"/>
          <a:lstStyle/>
          <a:p>
            <a:pPr indent="0" marL="0">
              <a:buNone/>
            </a:pPr>
            <a:r>
              <a:rPr lang="en-US" sz="1800" b="1" dirty="0">
                <a:solidFill>
                  <a:schemeClr val="accent4"/>
                </a:solidFill>
              </a:rPr>
              <a:t>1</a:t>
            </a:r>
            <a:endParaRPr lang="en-US" sz="1800" dirty="0"/>
          </a:p>
        </p:txBody>
      </p:sp>
      <p:sp>
        <p:nvSpPr>
          <p:cNvPr id="5" name="Text 3"/>
          <p:cNvSpPr txBox="1"/>
          <p:nvPr/>
        </p:nvSpPr>
        <p:spPr>
          <a:xfrm>
            <a:off x="731520" y="1938528"/>
            <a:ext cx="1737360" cy="822960"/>
          </a:xfrm>
          <a:prstGeom prst="rect">
            <a:avLst/>
          </a:prstGeom>
          <a:noFill/>
          <a:ln/>
        </p:spPr>
        <p:txBody>
          <a:bodyPr wrap="square" lIns="0" tIns="0" rIns="0" bIns="0" rtlCol="0" anchor="t"/>
          <a:lstStyle/>
          <a:p>
            <a:pPr indent="0" marL="0">
              <a:buNone/>
            </a:pPr>
            <a:r>
              <a:rPr lang="en-US" sz="1400" b="1" dirty="0">
                <a:solidFill>
                  <a:schemeClr val="tx2"/>
                </a:solidFill>
              </a:rPr>
              <a:t>Raw 303 rows</a:t>
            </a:r>
            <a:endParaRPr lang="en-US" sz="1400" dirty="0"/>
          </a:p>
        </p:txBody>
      </p:sp>
      <p:sp>
        <p:nvSpPr>
          <p:cNvPr id="6" name="arrow 1"/>
          <p:cNvSpPr/>
          <p:nvPr/>
        </p:nvSpPr>
        <p:spPr>
          <a:xfrm>
            <a:off x="2633472" y="2057400"/>
            <a:ext cx="146304" cy="182880"/>
          </a:xfrm>
          <a:prstGeom prst="rightArrow">
            <a:avLst/>
          </a:prstGeom>
          <a:solidFill>
            <a:schemeClr val="accent6"/>
          </a:solidFill>
          <a:ln/>
        </p:spPr>
      </p:sp>
      <p:sp>
        <p:nvSpPr>
          <p:cNvPr id="7" name="step 2"/>
          <p:cNvSpPr/>
          <p:nvPr/>
        </p:nvSpPr>
        <p:spPr>
          <a:xfrm>
            <a:off x="2798064" y="1463040"/>
            <a:ext cx="2057400" cy="1371600"/>
          </a:xfrm>
          <a:prstGeom prst="roundRect">
            <a:avLst>
              <a:gd name="adj" fmla="val 8000"/>
            </a:avLst>
          </a:prstGeom>
          <a:solidFill>
            <a:schemeClr val="bg2"/>
          </a:solidFill>
          <a:ln/>
        </p:spPr>
      </p:sp>
      <p:sp>
        <p:nvSpPr>
          <p:cNvPr id="8" name="Text 6"/>
          <p:cNvSpPr txBox="1"/>
          <p:nvPr/>
        </p:nvSpPr>
        <p:spPr>
          <a:xfrm>
            <a:off x="2980944" y="1572768"/>
            <a:ext cx="457200" cy="365760"/>
          </a:xfrm>
          <a:prstGeom prst="rect">
            <a:avLst/>
          </a:prstGeom>
          <a:noFill/>
          <a:ln/>
        </p:spPr>
        <p:txBody>
          <a:bodyPr wrap="square" lIns="0" tIns="0" rIns="0" bIns="0" rtlCol="0" anchor="t"/>
          <a:lstStyle/>
          <a:p>
            <a:pPr indent="0" marL="0">
              <a:buNone/>
            </a:pPr>
            <a:r>
              <a:rPr lang="en-US" sz="1800" b="1" dirty="0">
                <a:solidFill>
                  <a:schemeClr val="accent4"/>
                </a:solidFill>
              </a:rPr>
              <a:t>2</a:t>
            </a:r>
            <a:endParaRPr lang="en-US" sz="1800" dirty="0"/>
          </a:p>
        </p:txBody>
      </p:sp>
      <p:sp>
        <p:nvSpPr>
          <p:cNvPr id="9" name="Text 7"/>
          <p:cNvSpPr txBox="1"/>
          <p:nvPr/>
        </p:nvSpPr>
        <p:spPr>
          <a:xfrm>
            <a:off x="2980944" y="1938528"/>
            <a:ext cx="1737360" cy="822960"/>
          </a:xfrm>
          <a:prstGeom prst="rect">
            <a:avLst/>
          </a:prstGeom>
          <a:noFill/>
          <a:ln/>
        </p:spPr>
        <p:txBody>
          <a:bodyPr wrap="square" lIns="0" tIns="0" rIns="0" bIns="0" rtlCol="0" anchor="t"/>
          <a:lstStyle/>
          <a:p>
            <a:pPr indent="0" marL="0">
              <a:buNone/>
            </a:pPr>
            <a:r>
              <a:rPr lang="en-US" sz="1400" b="1" dirty="0">
                <a:solidFill>
                  <a:schemeClr val="tx2"/>
                </a:solidFill>
              </a:rPr>
              <a:t>Guard: target can never be a predictor</a:t>
            </a:r>
            <a:endParaRPr lang="en-US" sz="1400" dirty="0"/>
          </a:p>
        </p:txBody>
      </p:sp>
      <p:sp>
        <p:nvSpPr>
          <p:cNvPr id="10" name="arrow 2"/>
          <p:cNvSpPr/>
          <p:nvPr/>
        </p:nvSpPr>
        <p:spPr>
          <a:xfrm>
            <a:off x="4882896" y="2057400"/>
            <a:ext cx="146304" cy="182880"/>
          </a:xfrm>
          <a:prstGeom prst="rightArrow">
            <a:avLst/>
          </a:prstGeom>
          <a:solidFill>
            <a:schemeClr val="accent6"/>
          </a:solidFill>
          <a:ln/>
        </p:spPr>
      </p:sp>
      <p:sp>
        <p:nvSpPr>
          <p:cNvPr id="11" name="step 3"/>
          <p:cNvSpPr/>
          <p:nvPr/>
        </p:nvSpPr>
        <p:spPr>
          <a:xfrm>
            <a:off x="5047488" y="1463040"/>
            <a:ext cx="2057400" cy="1371600"/>
          </a:xfrm>
          <a:prstGeom prst="roundRect">
            <a:avLst>
              <a:gd name="adj" fmla="val 8000"/>
            </a:avLst>
          </a:prstGeom>
          <a:solidFill>
            <a:schemeClr val="accent4"/>
          </a:solidFill>
          <a:ln/>
        </p:spPr>
      </p:sp>
      <p:sp>
        <p:nvSpPr>
          <p:cNvPr id="12" name="Text 10"/>
          <p:cNvSpPr txBox="1"/>
          <p:nvPr/>
        </p:nvSpPr>
        <p:spPr>
          <a:xfrm>
            <a:off x="5230368" y="1572768"/>
            <a:ext cx="457200" cy="365760"/>
          </a:xfrm>
          <a:prstGeom prst="rect">
            <a:avLst/>
          </a:prstGeom>
          <a:noFill/>
          <a:ln/>
        </p:spPr>
        <p:txBody>
          <a:bodyPr wrap="square" lIns="0" tIns="0" rIns="0" bIns="0" rtlCol="0" anchor="t"/>
          <a:lstStyle/>
          <a:p>
            <a:pPr indent="0" marL="0">
              <a:buNone/>
            </a:pPr>
            <a:r>
              <a:rPr lang="en-US" sz="1800" b="1" dirty="0">
                <a:solidFill>
                  <a:schemeClr val="bg1"/>
                </a:solidFill>
              </a:rPr>
              <a:t>3</a:t>
            </a:r>
            <a:endParaRPr lang="en-US" sz="1800" dirty="0"/>
          </a:p>
        </p:txBody>
      </p:sp>
      <p:sp>
        <p:nvSpPr>
          <p:cNvPr id="13" name="Text 11"/>
          <p:cNvSpPr txBox="1"/>
          <p:nvPr/>
        </p:nvSpPr>
        <p:spPr>
          <a:xfrm>
            <a:off x="5230368" y="1938528"/>
            <a:ext cx="1737360" cy="822960"/>
          </a:xfrm>
          <a:prstGeom prst="rect">
            <a:avLst/>
          </a:prstGeom>
          <a:noFill/>
          <a:ln/>
        </p:spPr>
        <p:txBody>
          <a:bodyPr wrap="square" lIns="0" tIns="0" rIns="0" bIns="0" rtlCol="0" anchor="t"/>
          <a:lstStyle/>
          <a:p>
            <a:pPr indent="0" marL="0">
              <a:buNone/>
            </a:pPr>
            <a:r>
              <a:rPr lang="en-US" sz="1400" b="1" dirty="0">
                <a:solidFill>
                  <a:schemeClr val="bg1"/>
                </a:solidFill>
              </a:rPr>
              <a:t>Fit preprocessing on the training fold only</a:t>
            </a:r>
            <a:endParaRPr lang="en-US" sz="1400" dirty="0"/>
          </a:p>
        </p:txBody>
      </p:sp>
      <p:sp>
        <p:nvSpPr>
          <p:cNvPr id="14" name="arrow 3"/>
          <p:cNvSpPr/>
          <p:nvPr/>
        </p:nvSpPr>
        <p:spPr>
          <a:xfrm>
            <a:off x="7132320" y="2057400"/>
            <a:ext cx="146304" cy="182880"/>
          </a:xfrm>
          <a:prstGeom prst="rightArrow">
            <a:avLst/>
          </a:prstGeom>
          <a:solidFill>
            <a:schemeClr val="accent6"/>
          </a:solidFill>
          <a:ln/>
        </p:spPr>
      </p:sp>
      <p:sp>
        <p:nvSpPr>
          <p:cNvPr id="15" name="step 4"/>
          <p:cNvSpPr/>
          <p:nvPr/>
        </p:nvSpPr>
        <p:spPr>
          <a:xfrm>
            <a:off x="7296912" y="1463040"/>
            <a:ext cx="2057400" cy="1371600"/>
          </a:xfrm>
          <a:prstGeom prst="roundRect">
            <a:avLst>
              <a:gd name="adj" fmla="val 8000"/>
            </a:avLst>
          </a:prstGeom>
          <a:solidFill>
            <a:schemeClr val="bg2"/>
          </a:solidFill>
          <a:ln/>
        </p:spPr>
      </p:sp>
      <p:sp>
        <p:nvSpPr>
          <p:cNvPr id="16" name="Text 14"/>
          <p:cNvSpPr txBox="1"/>
          <p:nvPr/>
        </p:nvSpPr>
        <p:spPr>
          <a:xfrm>
            <a:off x="7479792" y="1572768"/>
            <a:ext cx="457200" cy="365760"/>
          </a:xfrm>
          <a:prstGeom prst="rect">
            <a:avLst/>
          </a:prstGeom>
          <a:noFill/>
          <a:ln/>
        </p:spPr>
        <p:txBody>
          <a:bodyPr wrap="square" lIns="0" tIns="0" rIns="0" bIns="0" rtlCol="0" anchor="t"/>
          <a:lstStyle/>
          <a:p>
            <a:pPr indent="0" marL="0">
              <a:buNone/>
            </a:pPr>
            <a:r>
              <a:rPr lang="en-US" sz="1800" b="1" dirty="0">
                <a:solidFill>
                  <a:schemeClr val="accent4"/>
                </a:solidFill>
              </a:rPr>
              <a:t>4</a:t>
            </a:r>
            <a:endParaRPr lang="en-US" sz="1800" dirty="0"/>
          </a:p>
        </p:txBody>
      </p:sp>
      <p:sp>
        <p:nvSpPr>
          <p:cNvPr id="17" name="Text 15"/>
          <p:cNvSpPr txBox="1"/>
          <p:nvPr/>
        </p:nvSpPr>
        <p:spPr>
          <a:xfrm>
            <a:off x="7479792" y="1938528"/>
            <a:ext cx="1737360" cy="822960"/>
          </a:xfrm>
          <a:prstGeom prst="rect">
            <a:avLst/>
          </a:prstGeom>
          <a:noFill/>
          <a:ln/>
        </p:spPr>
        <p:txBody>
          <a:bodyPr wrap="square" lIns="0" tIns="0" rIns="0" bIns="0" rtlCol="0" anchor="t"/>
          <a:lstStyle/>
          <a:p>
            <a:pPr indent="0" marL="0">
              <a:buNone/>
            </a:pPr>
            <a:r>
              <a:rPr lang="en-US" sz="1400" b="1" dirty="0">
                <a:solidFill>
                  <a:schemeClr val="tx2"/>
                </a:solidFill>
              </a:rPr>
              <a:t>Fit and tune the model</a:t>
            </a:r>
            <a:endParaRPr lang="en-US" sz="1400" dirty="0"/>
          </a:p>
        </p:txBody>
      </p:sp>
      <p:sp>
        <p:nvSpPr>
          <p:cNvPr id="18" name="arrow 4"/>
          <p:cNvSpPr/>
          <p:nvPr/>
        </p:nvSpPr>
        <p:spPr>
          <a:xfrm>
            <a:off x="9381744" y="2057400"/>
            <a:ext cx="146304" cy="182880"/>
          </a:xfrm>
          <a:prstGeom prst="rightArrow">
            <a:avLst/>
          </a:prstGeom>
          <a:solidFill>
            <a:schemeClr val="accent6"/>
          </a:solidFill>
          <a:ln/>
        </p:spPr>
      </p:sp>
      <p:sp>
        <p:nvSpPr>
          <p:cNvPr id="19" name="step 5"/>
          <p:cNvSpPr/>
          <p:nvPr/>
        </p:nvSpPr>
        <p:spPr>
          <a:xfrm>
            <a:off x="9546336" y="1463040"/>
            <a:ext cx="2057400" cy="1371600"/>
          </a:xfrm>
          <a:prstGeom prst="roundRect">
            <a:avLst>
              <a:gd name="adj" fmla="val 8000"/>
            </a:avLst>
          </a:prstGeom>
          <a:solidFill>
            <a:schemeClr val="bg2"/>
          </a:solidFill>
          <a:ln/>
        </p:spPr>
      </p:sp>
      <p:sp>
        <p:nvSpPr>
          <p:cNvPr id="20" name="Text 18"/>
          <p:cNvSpPr txBox="1"/>
          <p:nvPr/>
        </p:nvSpPr>
        <p:spPr>
          <a:xfrm>
            <a:off x="9729216" y="1572768"/>
            <a:ext cx="457200" cy="365760"/>
          </a:xfrm>
          <a:prstGeom prst="rect">
            <a:avLst/>
          </a:prstGeom>
          <a:noFill/>
          <a:ln/>
        </p:spPr>
        <p:txBody>
          <a:bodyPr wrap="square" lIns="0" tIns="0" rIns="0" bIns="0" rtlCol="0" anchor="t"/>
          <a:lstStyle/>
          <a:p>
            <a:pPr indent="0" marL="0">
              <a:buNone/>
            </a:pPr>
            <a:r>
              <a:rPr lang="en-US" sz="1800" b="1" dirty="0">
                <a:solidFill>
                  <a:schemeClr val="accent4"/>
                </a:solidFill>
              </a:rPr>
              <a:t>5</a:t>
            </a:r>
            <a:endParaRPr lang="en-US" sz="1800" dirty="0"/>
          </a:p>
        </p:txBody>
      </p:sp>
      <p:sp>
        <p:nvSpPr>
          <p:cNvPr id="21" name="Text 19"/>
          <p:cNvSpPr txBox="1"/>
          <p:nvPr/>
        </p:nvSpPr>
        <p:spPr>
          <a:xfrm>
            <a:off x="9729216" y="1938528"/>
            <a:ext cx="1737360" cy="822960"/>
          </a:xfrm>
          <a:prstGeom prst="rect">
            <a:avLst/>
          </a:prstGeom>
          <a:noFill/>
          <a:ln/>
        </p:spPr>
        <p:txBody>
          <a:bodyPr wrap="square" lIns="0" tIns="0" rIns="0" bIns="0" rtlCol="0" anchor="t"/>
          <a:lstStyle/>
          <a:p>
            <a:pPr indent="0" marL="0">
              <a:buNone/>
            </a:pPr>
            <a:r>
              <a:rPr lang="en-US" sz="1400" b="1" dirty="0">
                <a:solidFill>
                  <a:schemeClr val="tx2"/>
                </a:solidFill>
              </a:rPr>
              <a:t>Score the held-out fold</a:t>
            </a:r>
            <a:endParaRPr lang="en-US" sz="1400" dirty="0"/>
          </a:p>
        </p:txBody>
      </p:sp>
      <p:sp>
        <p:nvSpPr>
          <p:cNvPr id="22" name="mlp prep card"/>
          <p:cNvSpPr/>
          <p:nvPr/>
        </p:nvSpPr>
        <p:spPr>
          <a:xfrm>
            <a:off x="548640" y="3200400"/>
            <a:ext cx="5394960" cy="2194560"/>
          </a:xfrm>
          <a:prstGeom prst="roundRect">
            <a:avLst>
              <a:gd name="adj" fmla="val 5000"/>
            </a:avLst>
          </a:prstGeom>
          <a:solidFill>
            <a:schemeClr val="bg2"/>
          </a:solidFill>
          <a:ln/>
        </p:spPr>
      </p:sp>
      <p:sp>
        <p:nvSpPr>
          <p:cNvPr id="23" name="mlp dot"/>
          <p:cNvSpPr/>
          <p:nvPr/>
        </p:nvSpPr>
        <p:spPr>
          <a:xfrm>
            <a:off x="777240" y="3456432"/>
            <a:ext cx="201168" cy="201168"/>
          </a:xfrm>
          <a:prstGeom prst="ellipse">
            <a:avLst/>
          </a:prstGeom>
          <a:solidFill>
            <a:schemeClr val="accent3"/>
          </a:solidFill>
          <a:ln/>
        </p:spPr>
      </p:sp>
      <p:sp>
        <p:nvSpPr>
          <p:cNvPr id="24" name="Text 22"/>
          <p:cNvSpPr txBox="1"/>
          <p:nvPr/>
        </p:nvSpPr>
        <p:spPr>
          <a:xfrm>
            <a:off x="1097280" y="3383280"/>
            <a:ext cx="4663440" cy="365760"/>
          </a:xfrm>
          <a:prstGeom prst="rect">
            <a:avLst/>
          </a:prstGeom>
          <a:noFill/>
          <a:ln/>
        </p:spPr>
        <p:txBody>
          <a:bodyPr wrap="square" lIns="0" tIns="0" rIns="0" bIns="0" rtlCol="0" anchor="t"/>
          <a:lstStyle/>
          <a:p>
            <a:pPr indent="0" marL="0">
              <a:buNone/>
            </a:pPr>
            <a:r>
              <a:rPr lang="en-US" sz="1700" b="1" dirty="0">
                <a:solidFill>
                  <a:schemeClr val="tx2"/>
                </a:solidFill>
              </a:rPr>
              <a:t>For the MLP: 20 numeric inputs</a:t>
            </a:r>
            <a:endParaRPr lang="en-US" sz="1700" dirty="0"/>
          </a:p>
        </p:txBody>
      </p:sp>
      <p:sp>
        <p:nvSpPr>
          <p:cNvPr id="25" name="Text 23"/>
          <p:cNvSpPr txBox="1"/>
          <p:nvPr/>
        </p:nvSpPr>
        <p:spPr>
          <a:xfrm>
            <a:off x="777240" y="3931920"/>
            <a:ext cx="493776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Median / most-frequent imputation</a:t>
            </a:r>
            <a:endParaRPr lang="en-US" sz="1500" dirty="0"/>
          </a:p>
          <a:p>
            <a:pPr marL="342900" indent="-342900">
              <a:spcAft>
                <a:spcPts val="800"/>
              </a:spcAft>
              <a:buSzPct val="100000"/>
              <a:buChar char="•"/>
            </a:pPr>
            <a:r>
              <a:rPr lang="en-US" sz="1500" dirty="0">
                <a:solidFill>
                  <a:schemeClr val="tx1"/>
                </a:solidFill>
              </a:rPr>
              <a:t>Standardise continuous and ordinal features</a:t>
            </a:r>
            <a:endParaRPr lang="en-US" sz="1500" dirty="0"/>
          </a:p>
          <a:p>
            <a:pPr marL="342900" indent="-342900">
              <a:spcAft>
                <a:spcPts val="800"/>
              </a:spcAft>
              <a:buSzPct val="100000"/>
              <a:buChar char="•"/>
            </a:pPr>
            <a:r>
              <a:rPr lang="en-US" sz="1500" dirty="0">
                <a:solidFill>
                  <a:schemeClr val="tx1"/>
                </a:solidFill>
              </a:rPr>
              <a:t>One-hot encode nominal features (cp, restecg, thal)</a:t>
            </a:r>
            <a:endParaRPr lang="en-US" sz="1500" dirty="0"/>
          </a:p>
        </p:txBody>
      </p:sp>
      <p:sp>
        <p:nvSpPr>
          <p:cNvPr id="26" name="bn prep card"/>
          <p:cNvSpPr/>
          <p:nvPr/>
        </p:nvSpPr>
        <p:spPr>
          <a:xfrm>
            <a:off x="6217920" y="3200400"/>
            <a:ext cx="5394960" cy="2194560"/>
          </a:xfrm>
          <a:prstGeom prst="roundRect">
            <a:avLst>
              <a:gd name="adj" fmla="val 5000"/>
            </a:avLst>
          </a:prstGeom>
          <a:solidFill>
            <a:schemeClr val="bg2"/>
          </a:solidFill>
          <a:ln/>
        </p:spPr>
      </p:sp>
      <p:sp>
        <p:nvSpPr>
          <p:cNvPr id="27" name="bn dot"/>
          <p:cNvSpPr/>
          <p:nvPr/>
        </p:nvSpPr>
        <p:spPr>
          <a:xfrm>
            <a:off x="6446520" y="3456432"/>
            <a:ext cx="201168" cy="201168"/>
          </a:xfrm>
          <a:prstGeom prst="ellipse">
            <a:avLst/>
          </a:prstGeom>
          <a:solidFill>
            <a:schemeClr val="accent1"/>
          </a:solidFill>
          <a:ln/>
        </p:spPr>
      </p:sp>
      <p:sp>
        <p:nvSpPr>
          <p:cNvPr id="28" name="nb dot"/>
          <p:cNvSpPr/>
          <p:nvPr/>
        </p:nvSpPr>
        <p:spPr>
          <a:xfrm>
            <a:off x="6675120" y="3456432"/>
            <a:ext cx="201168" cy="201168"/>
          </a:xfrm>
          <a:prstGeom prst="ellipse">
            <a:avLst/>
          </a:prstGeom>
          <a:solidFill>
            <a:schemeClr val="accent2"/>
          </a:solidFill>
          <a:ln/>
        </p:spPr>
      </p:sp>
      <p:sp>
        <p:nvSpPr>
          <p:cNvPr id="29" name="Text 27"/>
          <p:cNvSpPr txBox="1"/>
          <p:nvPr/>
        </p:nvSpPr>
        <p:spPr>
          <a:xfrm>
            <a:off x="6995160" y="3383280"/>
            <a:ext cx="4480560" cy="365760"/>
          </a:xfrm>
          <a:prstGeom prst="rect">
            <a:avLst/>
          </a:prstGeom>
          <a:noFill/>
          <a:ln/>
        </p:spPr>
        <p:txBody>
          <a:bodyPr wrap="square" lIns="0" tIns="0" rIns="0" bIns="0" rtlCol="0" anchor="t"/>
          <a:lstStyle/>
          <a:p>
            <a:pPr indent="0" marL="0">
              <a:buNone/>
            </a:pPr>
            <a:r>
              <a:rPr lang="en-US" sz="1700" b="1" dirty="0">
                <a:solidFill>
                  <a:schemeClr val="tx2"/>
                </a:solidFill>
              </a:rPr>
              <a:t>For BN and Naive Bayes: 13 discrete inputs</a:t>
            </a:r>
            <a:endParaRPr lang="en-US" sz="1700" dirty="0"/>
          </a:p>
        </p:txBody>
      </p:sp>
      <p:sp>
        <p:nvSpPr>
          <p:cNvPr id="30" name="Text 28"/>
          <p:cNvSpPr txBox="1"/>
          <p:nvPr/>
        </p:nvSpPr>
        <p:spPr>
          <a:xfrm>
            <a:off x="6446520" y="3931920"/>
            <a:ext cx="493776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Continuous features cut into training-fold tertiles</a:t>
            </a:r>
            <a:endParaRPr lang="en-US" sz="1500" dirty="0"/>
          </a:p>
          <a:p>
            <a:pPr marL="342900" indent="-342900">
              <a:spcAft>
                <a:spcPts val="800"/>
              </a:spcAft>
              <a:buSzPct val="100000"/>
              <a:buChar char="•"/>
            </a:pPr>
            <a:r>
              <a:rPr lang="en-US" sz="1500" dirty="0">
                <a:solidFill>
                  <a:schemeClr val="tx1"/>
                </a:solidFill>
              </a:rPr>
              <a:t>Integer codes from the training vocabulary</a:t>
            </a:r>
            <a:endParaRPr lang="en-US" sz="1500" dirty="0"/>
          </a:p>
          <a:p>
            <a:pPr marL="342900" indent="-342900">
              <a:spcAft>
                <a:spcPts val="800"/>
              </a:spcAft>
              <a:buSzPct val="100000"/>
              <a:buChar char="•"/>
            </a:pPr>
            <a:r>
              <a:rPr lang="en-US" sz="1500" dirty="0">
                <a:solidFill>
                  <a:schemeClr val="tx1"/>
                </a:solidFill>
              </a:rPr>
              <a:t>Missing or unseen values become the training mode</a:t>
            </a:r>
            <a:endParaRPr lang="en-US" sz="1500" dirty="0"/>
          </a:p>
        </p:txBody>
      </p:sp>
      <p:sp>
        <p:nvSpPr>
          <p:cNvPr id="31" name="Text 29"/>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500" i="1" dirty="0">
                <a:solidFill>
                  <a:schemeClr val="tx1"/>
                </a:solidFill>
              </a:rPr>
              <a:t>The whole pipeline is cloned and refitted inside every inner and outer fold, so no statistic from a held-out patient ever reaches a model.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Three probabilistic classifiers</a:t>
            </a:r>
            <a:endParaRPr lang="en-US" sz="3400" dirty="0"/>
          </a:p>
        </p:txBody>
      </p:sp>
      <p:sp>
        <p:nvSpPr>
          <p:cNvPr id="3" name="model card 1"/>
          <p:cNvSpPr/>
          <p:nvPr/>
        </p:nvSpPr>
        <p:spPr>
          <a:xfrm>
            <a:off x="548640" y="1417320"/>
            <a:ext cx="3474720" cy="4343400"/>
          </a:xfrm>
          <a:prstGeom prst="roundRect">
            <a:avLst>
              <a:gd name="adj" fmla="val 3158"/>
            </a:avLst>
          </a:prstGeom>
          <a:solidFill>
            <a:schemeClr val="bg2"/>
          </a:solidFill>
          <a:ln/>
        </p:spPr>
      </p:sp>
      <p:sp>
        <p:nvSpPr>
          <p:cNvPr id="4" name="model 1 circle"/>
          <p:cNvSpPr/>
          <p:nvPr/>
        </p:nvSpPr>
        <p:spPr>
          <a:xfrm>
            <a:off x="822960" y="1691640"/>
            <a:ext cx="822960" cy="822960"/>
          </a:xfrm>
          <a:prstGeom prst="ellipse">
            <a:avLst/>
          </a:prstGeom>
          <a:solidFill>
            <a:schemeClr val="accent1"/>
          </a:solidFill>
          <a:ln/>
        </p:spPr>
      </p:sp>
      <p:pic>
        <p:nvPicPr>
          <p:cNvPr id="5" name="model 1 icon" descr="preencoded.png">    </p:cNvPr>
          <p:cNvPicPr>
            <a:picLocks noChangeAspect="1"/>
          </p:cNvPicPr>
          <p:nvPr/>
        </p:nvPicPr>
        <p:blipFill>
          <a:blip r:embed="rId1"/>
          <a:stretch>
            <a:fillRect/>
          </a:stretch>
        </p:blipFill>
        <p:spPr>
          <a:xfrm>
            <a:off x="1028700" y="1897380"/>
            <a:ext cx="411480" cy="411480"/>
          </a:xfrm>
          <a:prstGeom prst="rect">
            <a:avLst/>
          </a:prstGeom>
        </p:spPr>
      </p:pic>
      <p:sp>
        <p:nvSpPr>
          <p:cNvPr id="6" name="Text 3"/>
          <p:cNvSpPr txBox="1"/>
          <p:nvPr/>
        </p:nvSpPr>
        <p:spPr>
          <a:xfrm>
            <a:off x="822960" y="2697480"/>
            <a:ext cx="301752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Bayesian network</a:t>
            </a:r>
            <a:endParaRPr lang="en-US" sz="2000" dirty="0"/>
          </a:p>
        </p:txBody>
      </p:sp>
      <p:sp>
        <p:nvSpPr>
          <p:cNvPr id="7" name="Text 4"/>
          <p:cNvSpPr txBox="1"/>
          <p:nvPr/>
        </p:nvSpPr>
        <p:spPr>
          <a:xfrm>
            <a:off x="822960" y="3291840"/>
            <a:ext cx="29718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14 nodes, 16 edges fixed in advance from domain reasoning</a:t>
            </a:r>
            <a:endParaRPr lang="en-US" sz="1500" dirty="0"/>
          </a:p>
          <a:p>
            <a:pPr marL="342900" indent="-342900">
              <a:spcAft>
                <a:spcPts val="800"/>
              </a:spcAft>
              <a:buSzPct val="100000"/>
              <a:buChar char="•"/>
            </a:pPr>
            <a:r>
              <a:rPr lang="en-US" sz="1500" dirty="0">
                <a:solidFill>
                  <a:schemeClr val="tx1"/>
                </a:solidFill>
              </a:rPr>
              <a:t>Only probability tables learned (Dirichlet prior, tuned)</a:t>
            </a:r>
            <a:endParaRPr lang="en-US" sz="1500" dirty="0"/>
          </a:p>
          <a:p>
            <a:pPr marL="342900" indent="-342900">
              <a:spcAft>
                <a:spcPts val="800"/>
              </a:spcAft>
              <a:buSzPct val="100000"/>
              <a:buChar char="•"/>
            </a:pPr>
            <a:r>
              <a:rPr lang="en-US" sz="1500" dirty="0">
                <a:solidFill>
                  <a:schemeClr val="tx1"/>
                </a:solidFill>
              </a:rPr>
              <a:t>Exact inference by variable elimination</a:t>
            </a:r>
            <a:endParaRPr lang="en-US" sz="1500" dirty="0"/>
          </a:p>
        </p:txBody>
      </p:sp>
      <p:sp>
        <p:nvSpPr>
          <p:cNvPr id="8" name="model card 2"/>
          <p:cNvSpPr/>
          <p:nvPr/>
        </p:nvSpPr>
        <p:spPr>
          <a:xfrm>
            <a:off x="4297680" y="1417320"/>
            <a:ext cx="3474720" cy="4343400"/>
          </a:xfrm>
          <a:prstGeom prst="roundRect">
            <a:avLst>
              <a:gd name="adj" fmla="val 3158"/>
            </a:avLst>
          </a:prstGeom>
          <a:solidFill>
            <a:schemeClr val="bg2"/>
          </a:solidFill>
          <a:ln/>
        </p:spPr>
      </p:sp>
      <p:sp>
        <p:nvSpPr>
          <p:cNvPr id="9" name="model 2 circle"/>
          <p:cNvSpPr/>
          <p:nvPr/>
        </p:nvSpPr>
        <p:spPr>
          <a:xfrm>
            <a:off x="4572000" y="1691640"/>
            <a:ext cx="822960" cy="822960"/>
          </a:xfrm>
          <a:prstGeom prst="ellipse">
            <a:avLst/>
          </a:prstGeom>
          <a:solidFill>
            <a:schemeClr val="accent2"/>
          </a:solidFill>
          <a:ln/>
        </p:spPr>
      </p:sp>
      <p:pic>
        <p:nvPicPr>
          <p:cNvPr id="10" name="model 2 icon" descr="preencoded.png">    </p:cNvPr>
          <p:cNvPicPr>
            <a:picLocks noChangeAspect="1"/>
          </p:cNvPicPr>
          <p:nvPr/>
        </p:nvPicPr>
        <p:blipFill>
          <a:blip r:embed="rId2"/>
          <a:stretch>
            <a:fillRect/>
          </a:stretch>
        </p:blipFill>
        <p:spPr>
          <a:xfrm>
            <a:off x="4777740" y="1897380"/>
            <a:ext cx="411480" cy="411480"/>
          </a:xfrm>
          <a:prstGeom prst="rect">
            <a:avLst/>
          </a:prstGeom>
        </p:spPr>
      </p:pic>
      <p:sp>
        <p:nvSpPr>
          <p:cNvPr id="11" name="Text 7"/>
          <p:cNvSpPr txBox="1"/>
          <p:nvPr/>
        </p:nvSpPr>
        <p:spPr>
          <a:xfrm>
            <a:off x="4572000" y="2697480"/>
            <a:ext cx="301752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Naive Bayes</a:t>
            </a:r>
            <a:endParaRPr lang="en-US" sz="2000" dirty="0"/>
          </a:p>
        </p:txBody>
      </p:sp>
      <p:sp>
        <p:nvSpPr>
          <p:cNvPr id="12" name="Text 8"/>
          <p:cNvSpPr txBox="1"/>
          <p:nvPr/>
        </p:nvSpPr>
        <p:spPr>
          <a:xfrm>
            <a:off x="4572000" y="3291840"/>
            <a:ext cx="29718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Baseline: every predictor depends only on the class</a:t>
            </a:r>
            <a:endParaRPr lang="en-US" sz="1500" dirty="0"/>
          </a:p>
          <a:p>
            <a:pPr marL="342900" indent="-342900">
              <a:spcAft>
                <a:spcPts val="800"/>
              </a:spcAft>
              <a:buSzPct val="100000"/>
              <a:buChar char="•"/>
            </a:pPr>
            <a:r>
              <a:rPr lang="en-US" sz="1500" dirty="0">
                <a:solidFill>
                  <a:schemeClr val="tx1"/>
                </a:solidFill>
              </a:rPr>
              <a:t>Same discrete inputs and smoothing as the BN</a:t>
            </a:r>
            <a:endParaRPr lang="en-US" sz="1500" dirty="0"/>
          </a:p>
          <a:p>
            <a:pPr marL="342900" indent="-342900">
              <a:spcAft>
                <a:spcPts val="800"/>
              </a:spcAft>
              <a:buSzPct val="100000"/>
              <a:buChar char="•"/>
            </a:pPr>
            <a:r>
              <a:rPr lang="en-US" sz="1500" dirty="0">
                <a:solidFill>
                  <a:schemeClr val="tx1"/>
                </a:solidFill>
              </a:rPr>
              <a:t>So BN vs NB isolates the effect of structure</a:t>
            </a:r>
            <a:endParaRPr lang="en-US" sz="1500" dirty="0"/>
          </a:p>
        </p:txBody>
      </p:sp>
      <p:sp>
        <p:nvSpPr>
          <p:cNvPr id="13" name="model card 3"/>
          <p:cNvSpPr/>
          <p:nvPr/>
        </p:nvSpPr>
        <p:spPr>
          <a:xfrm>
            <a:off x="8046720" y="1417320"/>
            <a:ext cx="3474720" cy="4343400"/>
          </a:xfrm>
          <a:prstGeom prst="roundRect">
            <a:avLst>
              <a:gd name="adj" fmla="val 3158"/>
            </a:avLst>
          </a:prstGeom>
          <a:solidFill>
            <a:schemeClr val="bg2"/>
          </a:solidFill>
          <a:ln/>
        </p:spPr>
      </p:sp>
      <p:sp>
        <p:nvSpPr>
          <p:cNvPr id="14" name="model 3 circle"/>
          <p:cNvSpPr/>
          <p:nvPr/>
        </p:nvSpPr>
        <p:spPr>
          <a:xfrm>
            <a:off x="8321040" y="1691640"/>
            <a:ext cx="822960" cy="822960"/>
          </a:xfrm>
          <a:prstGeom prst="ellipse">
            <a:avLst/>
          </a:prstGeom>
          <a:solidFill>
            <a:schemeClr val="accent3"/>
          </a:solidFill>
          <a:ln/>
        </p:spPr>
      </p:sp>
      <p:pic>
        <p:nvPicPr>
          <p:cNvPr id="15" name="model 3 icon" descr="preencoded.png">    </p:cNvPr>
          <p:cNvPicPr>
            <a:picLocks noChangeAspect="1"/>
          </p:cNvPicPr>
          <p:nvPr/>
        </p:nvPicPr>
        <p:blipFill>
          <a:blip r:embed="rId3"/>
          <a:stretch>
            <a:fillRect/>
          </a:stretch>
        </p:blipFill>
        <p:spPr>
          <a:xfrm>
            <a:off x="8526780" y="1897380"/>
            <a:ext cx="411480" cy="411480"/>
          </a:xfrm>
          <a:prstGeom prst="rect">
            <a:avLst/>
          </a:prstGeom>
        </p:spPr>
      </p:pic>
      <p:sp>
        <p:nvSpPr>
          <p:cNvPr id="16" name="Text 11"/>
          <p:cNvSpPr txBox="1"/>
          <p:nvPr/>
        </p:nvSpPr>
        <p:spPr>
          <a:xfrm>
            <a:off x="8321040" y="2697480"/>
            <a:ext cx="301752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Neural network (MLP)</a:t>
            </a:r>
            <a:endParaRPr lang="en-US" sz="2000" dirty="0"/>
          </a:p>
        </p:txBody>
      </p:sp>
      <p:sp>
        <p:nvSpPr>
          <p:cNvPr id="17" name="Text 12"/>
          <p:cNvSpPr txBox="1"/>
          <p:nvPr/>
        </p:nvSpPr>
        <p:spPr>
          <a:xfrm>
            <a:off x="8321040" y="3291840"/>
            <a:ext cx="29718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 16 → 8 → 1, ReLU, dropout; 481 parameters</a:t>
            </a:r>
            <a:endParaRPr lang="en-US" sz="1500" dirty="0"/>
          </a:p>
          <a:p>
            <a:pPr marL="342900" indent="-342900">
              <a:spcAft>
                <a:spcPts val="800"/>
              </a:spcAft>
              <a:buSzPct val="100000"/>
              <a:buChar char="•"/>
            </a:pPr>
            <a:r>
              <a:rPr lang="en-US" sz="1500" dirty="0">
                <a:solidFill>
                  <a:schemeClr val="tx1"/>
                </a:solidFill>
              </a:rPr>
              <a:t>Adam, weight decay, early stopping on training data</a:t>
            </a:r>
            <a:endParaRPr lang="en-US" sz="1500" dirty="0"/>
          </a:p>
          <a:p>
            <a:pPr marL="342900" indent="-342900">
              <a:spcAft>
                <a:spcPts val="800"/>
              </a:spcAft>
              <a:buSzPct val="100000"/>
              <a:buChar char="•"/>
            </a:pPr>
            <a:r>
              <a:rPr lang="en-US" sz="1500" dirty="0">
                <a:solidFill>
                  <a:schemeClr val="tx1"/>
                </a:solidFill>
              </a:rPr>
              <a:t>Weight decay and dropout tuned in the inner loop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Bayesian network structure is an assumption</a:t>
            </a:r>
            <a:endParaRPr lang="en-US" sz="3400" dirty="0"/>
          </a:p>
        </p:txBody>
      </p:sp>
      <p:pic>
        <p:nvPicPr>
          <p:cNvPr id="3" name="bn structure" descr="Directed graph: age, sex and chol point to target; target points to cp, restecg, thalach, oldpeak, slope, ca, thal and exang; extra edges cp to exang and oldpeak to slope">    </p:cNvPr>
          <p:cNvPicPr>
            <a:picLocks noChangeAspect="1"/>
          </p:cNvPicPr>
          <p:nvPr/>
        </p:nvPicPr>
        <p:blipFill>
          <a:blip r:embed="rId1"/>
          <a:stretch>
            <a:fillRect/>
          </a:stretch>
        </p:blipFill>
        <p:spPr>
          <a:xfrm>
            <a:off x="365760" y="1389888"/>
            <a:ext cx="7863840" cy="4718304"/>
          </a:xfrm>
          <a:prstGeom prst="rect">
            <a:avLst/>
          </a:prstGeom>
        </p:spPr>
      </p:pic>
      <p:sp>
        <p:nvSpPr>
          <p:cNvPr id="4" name="bn notes card"/>
          <p:cNvSpPr/>
          <p:nvPr/>
        </p:nvSpPr>
        <p:spPr>
          <a:xfrm>
            <a:off x="8412480" y="1463040"/>
            <a:ext cx="3200400" cy="4663440"/>
          </a:xfrm>
          <a:prstGeom prst="roundRect">
            <a:avLst>
              <a:gd name="adj" fmla="val 3429"/>
            </a:avLst>
          </a:prstGeom>
          <a:solidFill>
            <a:schemeClr val="bg2"/>
          </a:solidFill>
          <a:ln/>
        </p:spPr>
      </p:sp>
      <p:sp>
        <p:nvSpPr>
          <p:cNvPr id="5" name="Text 2"/>
          <p:cNvSpPr txBox="1"/>
          <p:nvPr/>
        </p:nvSpPr>
        <p:spPr>
          <a:xfrm>
            <a:off x="8641080" y="1691640"/>
            <a:ext cx="2788920" cy="4297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Risk factors → disease → findings</a:t>
            </a:r>
            <a:endParaRPr lang="en-US" sz="1500" dirty="0"/>
          </a:p>
          <a:p>
            <a:pPr marL="342900" indent="-342900">
              <a:spcAft>
                <a:spcPts val="800"/>
              </a:spcAft>
              <a:buSzPct val="100000"/>
              <a:buChar char="•"/>
            </a:pPr>
            <a:r>
              <a:rPr lang="en-US" sz="1500" dirty="0">
                <a:solidFill>
                  <a:schemeClr val="tx1"/>
                </a:solidFill>
              </a:rPr>
              <a:t>Blue edges: clinical reasoning; orange: weak; green: added to relax Naive Bayes</a:t>
            </a:r>
            <a:endParaRPr lang="en-US" sz="1500" dirty="0"/>
          </a:p>
          <a:p>
            <a:pPr marL="342900" indent="-342900">
              <a:spcAft>
                <a:spcPts val="800"/>
              </a:spcAft>
              <a:buSzPct val="100000"/>
              <a:buChar char="•"/>
            </a:pPr>
            <a:r>
              <a:rPr lang="en-US" sz="1500" dirty="0">
                <a:solidFill>
                  <a:schemeClr val="tx1"/>
                </a:solidFill>
              </a:rPr>
              <a:t>Fixed before evaluation, not learned from data</a:t>
            </a:r>
            <a:endParaRPr lang="en-US" sz="1500" dirty="0"/>
          </a:p>
          <a:p>
            <a:pPr marL="342900" indent="-342900">
              <a:spcAft>
                <a:spcPts val="800"/>
              </a:spcAft>
              <a:buSzPct val="100000"/>
              <a:buChar char="•"/>
            </a:pPr>
            <a:r>
              <a:rPr lang="en-US" sz="1500" dirty="0">
                <a:solidFill>
                  <a:schemeClr val="tx1"/>
                </a:solidFill>
              </a:rPr>
              <a:t>Not a causal model: says nothing about what would happen if a value changed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Evaluation: nested cross-validation</a:t>
            </a:r>
            <a:endParaRPr lang="en-US" sz="3400" dirty="0"/>
          </a:p>
        </p:txBody>
      </p:sp>
      <p:sp>
        <p:nvSpPr>
          <p:cNvPr id="3" name="outer box"/>
          <p:cNvSpPr/>
          <p:nvPr/>
        </p:nvSpPr>
        <p:spPr>
          <a:xfrm>
            <a:off x="548640" y="1417320"/>
            <a:ext cx="6583680" cy="4709160"/>
          </a:xfrm>
          <a:prstGeom prst="roundRect">
            <a:avLst>
              <a:gd name="adj" fmla="val 2330"/>
            </a:avLst>
          </a:prstGeom>
          <a:solidFill>
            <a:schemeClr val="bg2"/>
          </a:solidFill>
          <a:ln/>
        </p:spPr>
      </p:sp>
      <p:sp>
        <p:nvSpPr>
          <p:cNvPr id="4" name="Text 2"/>
          <p:cNvSpPr txBox="1"/>
          <p:nvPr/>
        </p:nvSpPr>
        <p:spPr>
          <a:xfrm>
            <a:off x="822960" y="1600200"/>
            <a:ext cx="6035040" cy="640080"/>
          </a:xfrm>
          <a:prstGeom prst="rect">
            <a:avLst/>
          </a:prstGeom>
          <a:noFill/>
          <a:ln/>
        </p:spPr>
        <p:txBody>
          <a:bodyPr wrap="square" lIns="0" tIns="0" rIns="0" bIns="0" rtlCol="0" anchor="t"/>
          <a:lstStyle/>
          <a:p>
            <a:pPr indent="0" marL="0">
              <a:buNone/>
            </a:pPr>
            <a:r>
              <a:rPr lang="en-US" sz="1600" b="1" dirty="0">
                <a:solidFill>
                  <a:schemeClr val="tx2"/>
                </a:solidFill>
              </a:rPr>
              <a:t>Outer loop: 5-fold stratified × 5 repeats = 25 identical folds for every model (seed 42)</a:t>
            </a:r>
            <a:endParaRPr lang="en-US" sz="1600" dirty="0"/>
          </a:p>
        </p:txBody>
      </p:sp>
      <p:sp>
        <p:nvSpPr>
          <p:cNvPr id="5" name="fold 1-1"/>
          <p:cNvSpPr/>
          <p:nvPr/>
        </p:nvSpPr>
        <p:spPr>
          <a:xfrm>
            <a:off x="822960" y="2377440"/>
            <a:ext cx="457200" cy="292608"/>
          </a:xfrm>
          <a:prstGeom prst="rect">
            <a:avLst/>
          </a:prstGeom>
          <a:solidFill>
            <a:schemeClr val="accent4"/>
          </a:solidFill>
          <a:ln/>
        </p:spPr>
      </p:sp>
      <p:sp>
        <p:nvSpPr>
          <p:cNvPr id="6" name="fold 1-2"/>
          <p:cNvSpPr/>
          <p:nvPr/>
        </p:nvSpPr>
        <p:spPr>
          <a:xfrm>
            <a:off x="1325880" y="2377440"/>
            <a:ext cx="457200" cy="292608"/>
          </a:xfrm>
          <a:prstGeom prst="rect">
            <a:avLst/>
          </a:prstGeom>
          <a:solidFill>
            <a:schemeClr val="accent6"/>
          </a:solidFill>
          <a:ln/>
        </p:spPr>
      </p:sp>
      <p:sp>
        <p:nvSpPr>
          <p:cNvPr id="7" name="fold 1-3"/>
          <p:cNvSpPr/>
          <p:nvPr/>
        </p:nvSpPr>
        <p:spPr>
          <a:xfrm>
            <a:off x="1828800" y="2377440"/>
            <a:ext cx="457200" cy="292608"/>
          </a:xfrm>
          <a:prstGeom prst="rect">
            <a:avLst/>
          </a:prstGeom>
          <a:solidFill>
            <a:schemeClr val="accent6"/>
          </a:solidFill>
          <a:ln/>
        </p:spPr>
      </p:sp>
      <p:sp>
        <p:nvSpPr>
          <p:cNvPr id="8" name="fold 1-4"/>
          <p:cNvSpPr/>
          <p:nvPr/>
        </p:nvSpPr>
        <p:spPr>
          <a:xfrm>
            <a:off x="2331720" y="2377440"/>
            <a:ext cx="457200" cy="292608"/>
          </a:xfrm>
          <a:prstGeom prst="rect">
            <a:avLst/>
          </a:prstGeom>
          <a:solidFill>
            <a:schemeClr val="accent6"/>
          </a:solidFill>
          <a:ln/>
        </p:spPr>
      </p:sp>
      <p:sp>
        <p:nvSpPr>
          <p:cNvPr id="9" name="fold 1-5"/>
          <p:cNvSpPr/>
          <p:nvPr/>
        </p:nvSpPr>
        <p:spPr>
          <a:xfrm>
            <a:off x="2834640" y="2377440"/>
            <a:ext cx="457200" cy="292608"/>
          </a:xfrm>
          <a:prstGeom prst="rect">
            <a:avLst/>
          </a:prstGeom>
          <a:solidFill>
            <a:schemeClr val="accent6"/>
          </a:solidFill>
          <a:ln/>
        </p:spPr>
      </p:sp>
      <p:sp>
        <p:nvSpPr>
          <p:cNvPr id="10" name="fold 2-1"/>
          <p:cNvSpPr/>
          <p:nvPr/>
        </p:nvSpPr>
        <p:spPr>
          <a:xfrm>
            <a:off x="822960" y="2761488"/>
            <a:ext cx="457200" cy="292608"/>
          </a:xfrm>
          <a:prstGeom prst="rect">
            <a:avLst/>
          </a:prstGeom>
          <a:solidFill>
            <a:schemeClr val="accent6"/>
          </a:solidFill>
          <a:ln/>
        </p:spPr>
      </p:sp>
      <p:sp>
        <p:nvSpPr>
          <p:cNvPr id="11" name="fold 2-2"/>
          <p:cNvSpPr/>
          <p:nvPr/>
        </p:nvSpPr>
        <p:spPr>
          <a:xfrm>
            <a:off x="1325880" y="2761488"/>
            <a:ext cx="457200" cy="292608"/>
          </a:xfrm>
          <a:prstGeom prst="rect">
            <a:avLst/>
          </a:prstGeom>
          <a:solidFill>
            <a:schemeClr val="accent4"/>
          </a:solidFill>
          <a:ln/>
        </p:spPr>
      </p:sp>
      <p:sp>
        <p:nvSpPr>
          <p:cNvPr id="12" name="fold 2-3"/>
          <p:cNvSpPr/>
          <p:nvPr/>
        </p:nvSpPr>
        <p:spPr>
          <a:xfrm>
            <a:off x="1828800" y="2761488"/>
            <a:ext cx="457200" cy="292608"/>
          </a:xfrm>
          <a:prstGeom prst="rect">
            <a:avLst/>
          </a:prstGeom>
          <a:solidFill>
            <a:schemeClr val="accent6"/>
          </a:solidFill>
          <a:ln/>
        </p:spPr>
      </p:sp>
      <p:sp>
        <p:nvSpPr>
          <p:cNvPr id="13" name="fold 2-4"/>
          <p:cNvSpPr/>
          <p:nvPr/>
        </p:nvSpPr>
        <p:spPr>
          <a:xfrm>
            <a:off x="2331720" y="2761488"/>
            <a:ext cx="457200" cy="292608"/>
          </a:xfrm>
          <a:prstGeom prst="rect">
            <a:avLst/>
          </a:prstGeom>
          <a:solidFill>
            <a:schemeClr val="accent6"/>
          </a:solidFill>
          <a:ln/>
        </p:spPr>
      </p:sp>
      <p:sp>
        <p:nvSpPr>
          <p:cNvPr id="14" name="fold 2-5"/>
          <p:cNvSpPr/>
          <p:nvPr/>
        </p:nvSpPr>
        <p:spPr>
          <a:xfrm>
            <a:off x="2834640" y="2761488"/>
            <a:ext cx="457200" cy="292608"/>
          </a:xfrm>
          <a:prstGeom prst="rect">
            <a:avLst/>
          </a:prstGeom>
          <a:solidFill>
            <a:schemeClr val="accent6"/>
          </a:solidFill>
          <a:ln/>
        </p:spPr>
      </p:sp>
      <p:sp>
        <p:nvSpPr>
          <p:cNvPr id="15" name="fold 3-1"/>
          <p:cNvSpPr/>
          <p:nvPr/>
        </p:nvSpPr>
        <p:spPr>
          <a:xfrm>
            <a:off x="822960" y="3145536"/>
            <a:ext cx="457200" cy="292608"/>
          </a:xfrm>
          <a:prstGeom prst="rect">
            <a:avLst/>
          </a:prstGeom>
          <a:solidFill>
            <a:schemeClr val="accent6"/>
          </a:solidFill>
          <a:ln/>
        </p:spPr>
      </p:sp>
      <p:sp>
        <p:nvSpPr>
          <p:cNvPr id="16" name="fold 3-2"/>
          <p:cNvSpPr/>
          <p:nvPr/>
        </p:nvSpPr>
        <p:spPr>
          <a:xfrm>
            <a:off x="1325880" y="3145536"/>
            <a:ext cx="457200" cy="292608"/>
          </a:xfrm>
          <a:prstGeom prst="rect">
            <a:avLst/>
          </a:prstGeom>
          <a:solidFill>
            <a:schemeClr val="accent6"/>
          </a:solidFill>
          <a:ln/>
        </p:spPr>
      </p:sp>
      <p:sp>
        <p:nvSpPr>
          <p:cNvPr id="17" name="fold 3-3"/>
          <p:cNvSpPr/>
          <p:nvPr/>
        </p:nvSpPr>
        <p:spPr>
          <a:xfrm>
            <a:off x="1828800" y="3145536"/>
            <a:ext cx="457200" cy="292608"/>
          </a:xfrm>
          <a:prstGeom prst="rect">
            <a:avLst/>
          </a:prstGeom>
          <a:solidFill>
            <a:schemeClr val="accent4"/>
          </a:solidFill>
          <a:ln/>
        </p:spPr>
      </p:sp>
      <p:sp>
        <p:nvSpPr>
          <p:cNvPr id="18" name="fold 3-4"/>
          <p:cNvSpPr/>
          <p:nvPr/>
        </p:nvSpPr>
        <p:spPr>
          <a:xfrm>
            <a:off x="2331720" y="3145536"/>
            <a:ext cx="457200" cy="292608"/>
          </a:xfrm>
          <a:prstGeom prst="rect">
            <a:avLst/>
          </a:prstGeom>
          <a:solidFill>
            <a:schemeClr val="accent6"/>
          </a:solidFill>
          <a:ln/>
        </p:spPr>
      </p:sp>
      <p:sp>
        <p:nvSpPr>
          <p:cNvPr id="19" name="fold 3-5"/>
          <p:cNvSpPr/>
          <p:nvPr/>
        </p:nvSpPr>
        <p:spPr>
          <a:xfrm>
            <a:off x="2834640" y="3145536"/>
            <a:ext cx="457200" cy="292608"/>
          </a:xfrm>
          <a:prstGeom prst="rect">
            <a:avLst/>
          </a:prstGeom>
          <a:solidFill>
            <a:schemeClr val="accent6"/>
          </a:solidFill>
          <a:ln/>
        </p:spPr>
      </p:sp>
      <p:sp>
        <p:nvSpPr>
          <p:cNvPr id="20" name="fold 4-1"/>
          <p:cNvSpPr/>
          <p:nvPr/>
        </p:nvSpPr>
        <p:spPr>
          <a:xfrm>
            <a:off x="822960" y="3529584"/>
            <a:ext cx="457200" cy="292608"/>
          </a:xfrm>
          <a:prstGeom prst="rect">
            <a:avLst/>
          </a:prstGeom>
          <a:solidFill>
            <a:schemeClr val="accent6"/>
          </a:solidFill>
          <a:ln/>
        </p:spPr>
      </p:sp>
      <p:sp>
        <p:nvSpPr>
          <p:cNvPr id="21" name="fold 4-2"/>
          <p:cNvSpPr/>
          <p:nvPr/>
        </p:nvSpPr>
        <p:spPr>
          <a:xfrm>
            <a:off x="1325880" y="3529584"/>
            <a:ext cx="457200" cy="292608"/>
          </a:xfrm>
          <a:prstGeom prst="rect">
            <a:avLst/>
          </a:prstGeom>
          <a:solidFill>
            <a:schemeClr val="accent6"/>
          </a:solidFill>
          <a:ln/>
        </p:spPr>
      </p:sp>
      <p:sp>
        <p:nvSpPr>
          <p:cNvPr id="22" name="fold 4-3"/>
          <p:cNvSpPr/>
          <p:nvPr/>
        </p:nvSpPr>
        <p:spPr>
          <a:xfrm>
            <a:off x="1828800" y="3529584"/>
            <a:ext cx="457200" cy="292608"/>
          </a:xfrm>
          <a:prstGeom prst="rect">
            <a:avLst/>
          </a:prstGeom>
          <a:solidFill>
            <a:schemeClr val="accent6"/>
          </a:solidFill>
          <a:ln/>
        </p:spPr>
      </p:sp>
      <p:sp>
        <p:nvSpPr>
          <p:cNvPr id="23" name="fold 4-4"/>
          <p:cNvSpPr/>
          <p:nvPr/>
        </p:nvSpPr>
        <p:spPr>
          <a:xfrm>
            <a:off x="2331720" y="3529584"/>
            <a:ext cx="457200" cy="292608"/>
          </a:xfrm>
          <a:prstGeom prst="rect">
            <a:avLst/>
          </a:prstGeom>
          <a:solidFill>
            <a:schemeClr val="accent4"/>
          </a:solidFill>
          <a:ln/>
        </p:spPr>
      </p:sp>
      <p:sp>
        <p:nvSpPr>
          <p:cNvPr id="24" name="fold 4-5"/>
          <p:cNvSpPr/>
          <p:nvPr/>
        </p:nvSpPr>
        <p:spPr>
          <a:xfrm>
            <a:off x="2834640" y="3529584"/>
            <a:ext cx="457200" cy="292608"/>
          </a:xfrm>
          <a:prstGeom prst="rect">
            <a:avLst/>
          </a:prstGeom>
          <a:solidFill>
            <a:schemeClr val="accent6"/>
          </a:solidFill>
          <a:ln/>
        </p:spPr>
      </p:sp>
      <p:sp>
        <p:nvSpPr>
          <p:cNvPr id="25" name="fold 5-1"/>
          <p:cNvSpPr/>
          <p:nvPr/>
        </p:nvSpPr>
        <p:spPr>
          <a:xfrm>
            <a:off x="822960" y="3913632"/>
            <a:ext cx="457200" cy="292608"/>
          </a:xfrm>
          <a:prstGeom prst="rect">
            <a:avLst/>
          </a:prstGeom>
          <a:solidFill>
            <a:schemeClr val="accent6"/>
          </a:solidFill>
          <a:ln/>
        </p:spPr>
      </p:sp>
      <p:sp>
        <p:nvSpPr>
          <p:cNvPr id="26" name="fold 5-2"/>
          <p:cNvSpPr/>
          <p:nvPr/>
        </p:nvSpPr>
        <p:spPr>
          <a:xfrm>
            <a:off x="1325880" y="3913632"/>
            <a:ext cx="457200" cy="292608"/>
          </a:xfrm>
          <a:prstGeom prst="rect">
            <a:avLst/>
          </a:prstGeom>
          <a:solidFill>
            <a:schemeClr val="accent6"/>
          </a:solidFill>
          <a:ln/>
        </p:spPr>
      </p:sp>
      <p:sp>
        <p:nvSpPr>
          <p:cNvPr id="27" name="fold 5-3"/>
          <p:cNvSpPr/>
          <p:nvPr/>
        </p:nvSpPr>
        <p:spPr>
          <a:xfrm>
            <a:off x="1828800" y="3913632"/>
            <a:ext cx="457200" cy="292608"/>
          </a:xfrm>
          <a:prstGeom prst="rect">
            <a:avLst/>
          </a:prstGeom>
          <a:solidFill>
            <a:schemeClr val="accent6"/>
          </a:solidFill>
          <a:ln/>
        </p:spPr>
      </p:sp>
      <p:sp>
        <p:nvSpPr>
          <p:cNvPr id="28" name="fold 5-4"/>
          <p:cNvSpPr/>
          <p:nvPr/>
        </p:nvSpPr>
        <p:spPr>
          <a:xfrm>
            <a:off x="2331720" y="3913632"/>
            <a:ext cx="457200" cy="292608"/>
          </a:xfrm>
          <a:prstGeom prst="rect">
            <a:avLst/>
          </a:prstGeom>
          <a:solidFill>
            <a:schemeClr val="accent6"/>
          </a:solidFill>
          <a:ln/>
        </p:spPr>
      </p:sp>
      <p:sp>
        <p:nvSpPr>
          <p:cNvPr id="29" name="fold 5-5"/>
          <p:cNvSpPr/>
          <p:nvPr/>
        </p:nvSpPr>
        <p:spPr>
          <a:xfrm>
            <a:off x="2834640" y="3913632"/>
            <a:ext cx="457200" cy="292608"/>
          </a:xfrm>
          <a:prstGeom prst="rect">
            <a:avLst/>
          </a:prstGeom>
          <a:solidFill>
            <a:schemeClr val="accent4"/>
          </a:solidFill>
          <a:ln/>
        </p:spPr>
      </p:sp>
      <p:sp>
        <p:nvSpPr>
          <p:cNvPr id="30" name="Text 28"/>
          <p:cNvSpPr txBox="1"/>
          <p:nvPr/>
        </p:nvSpPr>
        <p:spPr>
          <a:xfrm>
            <a:off x="822960" y="4343400"/>
            <a:ext cx="2560320" cy="548640"/>
          </a:xfrm>
          <a:prstGeom prst="rect">
            <a:avLst/>
          </a:prstGeom>
          <a:noFill/>
          <a:ln/>
        </p:spPr>
        <p:txBody>
          <a:bodyPr wrap="square" lIns="0" tIns="0" rIns="0" bIns="0" rtlCol="0" anchor="t"/>
          <a:lstStyle/>
          <a:p>
            <a:pPr indent="0" marL="0">
              <a:buNone/>
            </a:pPr>
            <a:r>
              <a:rPr lang="en-US" sz="1200" dirty="0">
                <a:solidFill>
                  <a:schemeClr val="accent5"/>
                </a:solidFill>
              </a:rPr>
              <a:t>red = held-out fold, grey = training folds</a:t>
            </a:r>
            <a:endParaRPr lang="en-US" sz="1200" dirty="0"/>
          </a:p>
        </p:txBody>
      </p:sp>
      <p:sp>
        <p:nvSpPr>
          <p:cNvPr id="31" name="inner box"/>
          <p:cNvSpPr/>
          <p:nvPr/>
        </p:nvSpPr>
        <p:spPr>
          <a:xfrm>
            <a:off x="3611880" y="2377440"/>
            <a:ext cx="3246120" cy="2423160"/>
          </a:xfrm>
          <a:prstGeom prst="roundRect">
            <a:avLst>
              <a:gd name="adj" fmla="val 4528"/>
            </a:avLst>
          </a:prstGeom>
          <a:solidFill>
            <a:schemeClr val="bg1"/>
          </a:solidFill>
          <a:ln/>
        </p:spPr>
      </p:sp>
      <p:sp>
        <p:nvSpPr>
          <p:cNvPr id="32" name="Text 30"/>
          <p:cNvSpPr txBox="1"/>
          <p:nvPr/>
        </p:nvSpPr>
        <p:spPr>
          <a:xfrm>
            <a:off x="3794760" y="2514600"/>
            <a:ext cx="2926080" cy="365760"/>
          </a:xfrm>
          <a:prstGeom prst="rect">
            <a:avLst/>
          </a:prstGeom>
          <a:noFill/>
          <a:ln/>
        </p:spPr>
        <p:txBody>
          <a:bodyPr wrap="square" lIns="0" tIns="0" rIns="0" bIns="0" rtlCol="0" anchor="t"/>
          <a:lstStyle/>
          <a:p>
            <a:pPr indent="0" marL="0">
              <a:buNone/>
            </a:pPr>
            <a:r>
              <a:rPr lang="en-US" sz="1500" b="1" dirty="0">
                <a:solidFill>
                  <a:schemeClr val="tx2"/>
                </a:solidFill>
              </a:rPr>
              <a:t>Inner loop, training folds only</a:t>
            </a:r>
            <a:endParaRPr lang="en-US" sz="1500" dirty="0"/>
          </a:p>
        </p:txBody>
      </p:sp>
      <p:sp>
        <p:nvSpPr>
          <p:cNvPr id="33" name="Text 31"/>
          <p:cNvSpPr txBox="1"/>
          <p:nvPr/>
        </p:nvSpPr>
        <p:spPr>
          <a:xfrm>
            <a:off x="3794760" y="2971800"/>
            <a:ext cx="288036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5-fold CV picks hyper-parameters by log loss</a:t>
            </a:r>
            <a:endParaRPr lang="en-US" sz="1400" dirty="0"/>
          </a:p>
          <a:p>
            <a:pPr marL="342900" indent="-342900">
              <a:spcAft>
                <a:spcPts val="800"/>
              </a:spcAft>
              <a:buSzPct val="100000"/>
              <a:buChar char="•"/>
            </a:pPr>
            <a:r>
              <a:rPr lang="en-US" sz="1400" dirty="0">
                <a:solidFill>
                  <a:schemeClr val="tx1"/>
                </a:solidFill>
              </a:rPr>
              <a:t>Best setting refitted on the whole training fold</a:t>
            </a:r>
            <a:endParaRPr lang="en-US" sz="1400" dirty="0"/>
          </a:p>
          <a:p>
            <a:pPr marL="342900" indent="-342900">
              <a:spcAft>
                <a:spcPts val="800"/>
              </a:spcAft>
              <a:buSzPct val="100000"/>
              <a:buChar char="•"/>
            </a:pPr>
            <a:r>
              <a:rPr lang="en-US" sz="1400" dirty="0">
                <a:solidFill>
                  <a:schemeClr val="tx1"/>
                </a:solidFill>
              </a:rPr>
              <a:t>Outer labels used only for scoring</a:t>
            </a:r>
            <a:endParaRPr lang="en-US" sz="1400" dirty="0"/>
          </a:p>
        </p:txBody>
      </p:sp>
      <p:sp>
        <p:nvSpPr>
          <p:cNvPr id="34" name="Text 32"/>
          <p:cNvSpPr txBox="1"/>
          <p:nvPr/>
        </p:nvSpPr>
        <p:spPr>
          <a:xfrm>
            <a:off x="822960" y="5166360"/>
            <a:ext cx="6035040" cy="731520"/>
          </a:xfrm>
          <a:prstGeom prst="rect">
            <a:avLst/>
          </a:prstGeom>
          <a:noFill/>
          <a:ln/>
        </p:spPr>
        <p:txBody>
          <a:bodyPr wrap="square" lIns="0" tIns="0" rIns="0" bIns="0" rtlCol="0" anchor="t"/>
          <a:lstStyle/>
          <a:p>
            <a:pPr indent="0" marL="0">
              <a:buNone/>
            </a:pPr>
            <a:r>
              <a:rPr lang="en-US" sz="1500" i="1" dirty="0">
                <a:solidFill>
                  <a:schemeClr val="tx1"/>
                </a:solidFill>
              </a:rPr>
              <a:t>All three models see exactly the same 25 splits, so every comparison is paired, patient by patient.</a:t>
            </a:r>
            <a:endParaRPr lang="en-US" sz="1500" dirty="0"/>
          </a:p>
        </p:txBody>
      </p:sp>
      <p:sp>
        <p:nvSpPr>
          <p:cNvPr id="35" name="Text 33"/>
          <p:cNvSpPr txBox="1"/>
          <p:nvPr/>
        </p:nvSpPr>
        <p:spPr>
          <a:xfrm>
            <a:off x="7498080" y="1463040"/>
            <a:ext cx="1463040" cy="73152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0.5</a:t>
            </a:r>
            <a:endParaRPr lang="en-US" sz="3600" dirty="0"/>
          </a:p>
        </p:txBody>
      </p:sp>
      <p:sp>
        <p:nvSpPr>
          <p:cNvPr id="36" name="Text 34"/>
          <p:cNvSpPr txBox="1"/>
          <p:nvPr/>
        </p:nvSpPr>
        <p:spPr>
          <a:xfrm>
            <a:off x="9006840" y="1554480"/>
            <a:ext cx="2606040" cy="1188720"/>
          </a:xfrm>
          <a:prstGeom prst="rect">
            <a:avLst/>
          </a:prstGeom>
          <a:noFill/>
          <a:ln/>
        </p:spPr>
        <p:txBody>
          <a:bodyPr wrap="square" lIns="0" tIns="0" rIns="0" bIns="0" rtlCol="0" anchor="t"/>
          <a:lstStyle/>
          <a:p>
            <a:pPr indent="0" marL="0">
              <a:buNone/>
            </a:pPr>
            <a:r>
              <a:rPr lang="en-US" sz="1500" dirty="0">
                <a:solidFill>
                  <a:schemeClr val="tx1"/>
                </a:solidFill>
              </a:rPr>
              <a:t>fixed decision threshold, chosen in advance</a:t>
            </a:r>
            <a:endParaRPr lang="en-US" sz="1500" dirty="0"/>
          </a:p>
        </p:txBody>
      </p:sp>
      <p:sp>
        <p:nvSpPr>
          <p:cNvPr id="37" name="Text 35"/>
          <p:cNvSpPr txBox="1"/>
          <p:nvPr/>
        </p:nvSpPr>
        <p:spPr>
          <a:xfrm>
            <a:off x="7498080" y="3063240"/>
            <a:ext cx="1463040" cy="73152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2000</a:t>
            </a:r>
            <a:endParaRPr lang="en-US" sz="3600" dirty="0"/>
          </a:p>
        </p:txBody>
      </p:sp>
      <p:sp>
        <p:nvSpPr>
          <p:cNvPr id="38" name="Text 36"/>
          <p:cNvSpPr txBox="1"/>
          <p:nvPr/>
        </p:nvSpPr>
        <p:spPr>
          <a:xfrm>
            <a:off x="9006840" y="3154680"/>
            <a:ext cx="2606040" cy="1188720"/>
          </a:xfrm>
          <a:prstGeom prst="rect">
            <a:avLst/>
          </a:prstGeom>
          <a:noFill/>
          <a:ln/>
        </p:spPr>
        <p:txBody>
          <a:bodyPr wrap="square" lIns="0" tIns="0" rIns="0" bIns="0" rtlCol="0" anchor="t"/>
          <a:lstStyle/>
          <a:p>
            <a:pPr indent="0" marL="0">
              <a:buNone/>
            </a:pPr>
            <a:r>
              <a:rPr lang="en-US" sz="1500" dirty="0">
                <a:solidFill>
                  <a:schemeClr val="tx1"/>
                </a:solidFill>
              </a:rPr>
              <a:t>patient-level paired bootstrap samples for 95% intervals</a:t>
            </a:r>
            <a:endParaRPr lang="en-US" sz="1500" dirty="0"/>
          </a:p>
        </p:txBody>
      </p:sp>
      <p:sp>
        <p:nvSpPr>
          <p:cNvPr id="39" name="Text 37"/>
          <p:cNvSpPr txBox="1"/>
          <p:nvPr/>
        </p:nvSpPr>
        <p:spPr>
          <a:xfrm>
            <a:off x="7498080" y="4663440"/>
            <a:ext cx="1463040" cy="731520"/>
          </a:xfrm>
          <a:prstGeom prst="rect">
            <a:avLst/>
          </a:prstGeom>
          <a:noFill/>
          <a:ln/>
        </p:spPr>
        <p:txBody>
          <a:bodyPr wrap="square" lIns="0" tIns="0" rIns="0" bIns="0" rtlCol="0" anchor="t"/>
          <a:lstStyle/>
          <a:p>
            <a:pPr indent="0" marL="0">
              <a:buNone/>
            </a:pPr>
            <a:r>
              <a:rPr lang="en-US" sz="3600" b="1" dirty="0">
                <a:solidFill>
                  <a:schemeClr val="accent4"/>
                </a:solidFill>
                <a:latin typeface="Cambria" pitchFamily="34" charset="0"/>
                <a:ea typeface="Cambria" pitchFamily="34" charset="-122"/>
                <a:cs typeface="Cambria" pitchFamily="34" charset="-120"/>
              </a:rPr>
              <a:t>10+</a:t>
            </a:r>
            <a:endParaRPr lang="en-US" sz="3600" dirty="0"/>
          </a:p>
        </p:txBody>
      </p:sp>
      <p:sp>
        <p:nvSpPr>
          <p:cNvPr id="40" name="Text 38"/>
          <p:cNvSpPr txBox="1"/>
          <p:nvPr/>
        </p:nvSpPr>
        <p:spPr>
          <a:xfrm>
            <a:off x="9006840" y="4754880"/>
            <a:ext cx="2606040" cy="1188720"/>
          </a:xfrm>
          <a:prstGeom prst="rect">
            <a:avLst/>
          </a:prstGeom>
          <a:noFill/>
          <a:ln/>
        </p:spPr>
        <p:txBody>
          <a:bodyPr wrap="square" lIns="0" tIns="0" rIns="0" bIns="0" rtlCol="0" anchor="t"/>
          <a:lstStyle/>
          <a:p>
            <a:pPr indent="0" marL="0">
              <a:buNone/>
            </a:pPr>
            <a:r>
              <a:rPr lang="en-US" sz="1500" dirty="0">
                <a:solidFill>
                  <a:schemeClr val="tx1"/>
                </a:solidFill>
              </a:rPr>
              <a:t>metrics: ROC/PR AUC, sensitivity, specificity, Brier, log loss, ECE, calibration slope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All three models rank patients equally well</a:t>
            </a:r>
            <a:endParaRPr lang="en-US" sz="3400" dirty="0"/>
          </a:p>
        </p:txBody>
      </p:sp>
      <p:pic>
        <p:nvPicPr>
          <p:cNvPr id="3" name="roc curves" descr="ROC curves of the three models, nearly overlapping, AUC about 0.90">    </p:cNvPr>
          <p:cNvPicPr>
            <a:picLocks noChangeAspect="1"/>
          </p:cNvPicPr>
          <p:nvPr/>
        </p:nvPicPr>
        <p:blipFill>
          <a:blip r:embed="rId1"/>
          <a:stretch>
            <a:fillRect/>
          </a:stretch>
        </p:blipFill>
        <p:spPr>
          <a:xfrm>
            <a:off x="534010" y="1280160"/>
            <a:ext cx="5332781" cy="4937760"/>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t"/>
          <a:lstStyle/>
          <a:p>
            <a:pPr indent="0" marL="0">
              <a:buNone/>
            </a:pPr>
            <a:r>
              <a:rPr lang="en-US" sz="1400" dirty="0">
                <a:solidFill>
                  <a:schemeClr val="accent5"/>
                </a:solidFill>
              </a:rPr>
              <a:t>Pooled out-of-fold ROC AUC with 95% bootstrap interval</a:t>
            </a:r>
            <a:endParaRPr lang="en-US" sz="1400" dirty="0"/>
          </a:p>
        </p:txBody>
      </p:sp>
      <p:sp>
        <p:nvSpPr>
          <p:cNvPr id="5" name="auc card 1"/>
          <p:cNvSpPr/>
          <p:nvPr/>
        </p:nvSpPr>
        <p:spPr>
          <a:xfrm>
            <a:off x="6400800" y="1874520"/>
            <a:ext cx="5212080" cy="960120"/>
          </a:xfrm>
          <a:prstGeom prst="roundRect">
            <a:avLst>
              <a:gd name="adj" fmla="val 11429"/>
            </a:avLst>
          </a:prstGeom>
          <a:solidFill>
            <a:schemeClr val="bg2"/>
          </a:solidFill>
          <a:ln/>
        </p:spPr>
      </p:sp>
      <p:sp>
        <p:nvSpPr>
          <p:cNvPr id="6" name="auc dot 1"/>
          <p:cNvSpPr/>
          <p:nvPr/>
        </p:nvSpPr>
        <p:spPr>
          <a:xfrm>
            <a:off x="6629400" y="2258568"/>
            <a:ext cx="201168" cy="201168"/>
          </a:xfrm>
          <a:prstGeom prst="ellipse">
            <a:avLst/>
          </a:prstGeom>
          <a:solidFill>
            <a:schemeClr val="accent1"/>
          </a:solidFill>
          <a:ln/>
        </p:spPr>
      </p:sp>
      <p:sp>
        <p:nvSpPr>
          <p:cNvPr id="7" name="Text 4"/>
          <p:cNvSpPr txBox="1"/>
          <p:nvPr/>
        </p:nvSpPr>
        <p:spPr>
          <a:xfrm>
            <a:off x="6995160" y="2167128"/>
            <a:ext cx="2194560" cy="365760"/>
          </a:xfrm>
          <a:prstGeom prst="rect">
            <a:avLst/>
          </a:prstGeom>
          <a:noFill/>
          <a:ln/>
        </p:spPr>
        <p:txBody>
          <a:bodyPr wrap="square" lIns="0" tIns="0" rIns="0" bIns="0" rtlCol="0" anchor="t"/>
          <a:lstStyle/>
          <a:p>
            <a:pPr indent="0" marL="0">
              <a:buNone/>
            </a:pPr>
            <a:r>
              <a:rPr lang="en-US" sz="1700" b="1" dirty="0">
                <a:solidFill>
                  <a:schemeClr val="tx2"/>
                </a:solidFill>
              </a:rPr>
              <a:t>Bayesian network</a:t>
            </a:r>
            <a:endParaRPr lang="en-US" sz="1700" dirty="0"/>
          </a:p>
        </p:txBody>
      </p:sp>
      <p:sp>
        <p:nvSpPr>
          <p:cNvPr id="8" name="Text 5"/>
          <p:cNvSpPr txBox="1"/>
          <p:nvPr/>
        </p:nvSpPr>
        <p:spPr>
          <a:xfrm>
            <a:off x="9144000" y="2039112"/>
            <a:ext cx="109728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0.909</a:t>
            </a:r>
            <a:endParaRPr lang="en-US" sz="3000" dirty="0"/>
          </a:p>
        </p:txBody>
      </p:sp>
      <p:sp>
        <p:nvSpPr>
          <p:cNvPr id="9" name="Text 6"/>
          <p:cNvSpPr txBox="1"/>
          <p:nvPr/>
        </p:nvSpPr>
        <p:spPr>
          <a:xfrm>
            <a:off x="10241280" y="2203704"/>
            <a:ext cx="1280160" cy="365760"/>
          </a:xfrm>
          <a:prstGeom prst="rect">
            <a:avLst/>
          </a:prstGeom>
          <a:noFill/>
          <a:ln/>
        </p:spPr>
        <p:txBody>
          <a:bodyPr wrap="square" lIns="0" tIns="0" rIns="0" bIns="0" rtlCol="0" anchor="t"/>
          <a:lstStyle/>
          <a:p>
            <a:pPr indent="0" marL="0">
              <a:buNone/>
            </a:pPr>
            <a:r>
              <a:rPr lang="en-US" sz="1300" dirty="0">
                <a:solidFill>
                  <a:schemeClr val="accent5"/>
                </a:solidFill>
              </a:rPr>
              <a:t>[0.873, 0.939]</a:t>
            </a:r>
            <a:endParaRPr lang="en-US" sz="1300" dirty="0"/>
          </a:p>
        </p:txBody>
      </p:sp>
      <p:sp>
        <p:nvSpPr>
          <p:cNvPr id="10" name="auc card 2"/>
          <p:cNvSpPr/>
          <p:nvPr/>
        </p:nvSpPr>
        <p:spPr>
          <a:xfrm>
            <a:off x="6400800" y="3017520"/>
            <a:ext cx="5212080" cy="960120"/>
          </a:xfrm>
          <a:prstGeom prst="roundRect">
            <a:avLst>
              <a:gd name="adj" fmla="val 11429"/>
            </a:avLst>
          </a:prstGeom>
          <a:solidFill>
            <a:schemeClr val="bg2"/>
          </a:solidFill>
          <a:ln/>
        </p:spPr>
      </p:sp>
      <p:sp>
        <p:nvSpPr>
          <p:cNvPr id="11" name="auc dot 2"/>
          <p:cNvSpPr/>
          <p:nvPr/>
        </p:nvSpPr>
        <p:spPr>
          <a:xfrm>
            <a:off x="6629400" y="3401568"/>
            <a:ext cx="201168" cy="201168"/>
          </a:xfrm>
          <a:prstGeom prst="ellipse">
            <a:avLst/>
          </a:prstGeom>
          <a:solidFill>
            <a:schemeClr val="accent2"/>
          </a:solidFill>
          <a:ln/>
        </p:spPr>
      </p:sp>
      <p:sp>
        <p:nvSpPr>
          <p:cNvPr id="12" name="Text 9"/>
          <p:cNvSpPr txBox="1"/>
          <p:nvPr/>
        </p:nvSpPr>
        <p:spPr>
          <a:xfrm>
            <a:off x="6995160" y="3310128"/>
            <a:ext cx="2194560" cy="365760"/>
          </a:xfrm>
          <a:prstGeom prst="rect">
            <a:avLst/>
          </a:prstGeom>
          <a:noFill/>
          <a:ln/>
        </p:spPr>
        <p:txBody>
          <a:bodyPr wrap="square" lIns="0" tIns="0" rIns="0" bIns="0" rtlCol="0" anchor="t"/>
          <a:lstStyle/>
          <a:p>
            <a:pPr indent="0" marL="0">
              <a:buNone/>
            </a:pPr>
            <a:r>
              <a:rPr lang="en-US" sz="1700" b="1" dirty="0">
                <a:solidFill>
                  <a:schemeClr val="tx2"/>
                </a:solidFill>
              </a:rPr>
              <a:t>Naive Bayes</a:t>
            </a:r>
            <a:endParaRPr lang="en-US" sz="1700" dirty="0"/>
          </a:p>
        </p:txBody>
      </p:sp>
      <p:sp>
        <p:nvSpPr>
          <p:cNvPr id="13" name="Text 10"/>
          <p:cNvSpPr txBox="1"/>
          <p:nvPr/>
        </p:nvSpPr>
        <p:spPr>
          <a:xfrm>
            <a:off x="9144000" y="3182112"/>
            <a:ext cx="109728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0.904</a:t>
            </a:r>
            <a:endParaRPr lang="en-US" sz="3000" dirty="0"/>
          </a:p>
        </p:txBody>
      </p:sp>
      <p:sp>
        <p:nvSpPr>
          <p:cNvPr id="14" name="Text 11"/>
          <p:cNvSpPr txBox="1"/>
          <p:nvPr/>
        </p:nvSpPr>
        <p:spPr>
          <a:xfrm>
            <a:off x="10241280" y="3346704"/>
            <a:ext cx="1280160" cy="365760"/>
          </a:xfrm>
          <a:prstGeom prst="rect">
            <a:avLst/>
          </a:prstGeom>
          <a:noFill/>
          <a:ln/>
        </p:spPr>
        <p:txBody>
          <a:bodyPr wrap="square" lIns="0" tIns="0" rIns="0" bIns="0" rtlCol="0" anchor="t"/>
          <a:lstStyle/>
          <a:p>
            <a:pPr indent="0" marL="0">
              <a:buNone/>
            </a:pPr>
            <a:r>
              <a:rPr lang="en-US" sz="1300" dirty="0">
                <a:solidFill>
                  <a:schemeClr val="accent5"/>
                </a:solidFill>
              </a:rPr>
              <a:t>[0.869, 0.935]</a:t>
            </a:r>
            <a:endParaRPr lang="en-US" sz="1300" dirty="0"/>
          </a:p>
        </p:txBody>
      </p:sp>
      <p:sp>
        <p:nvSpPr>
          <p:cNvPr id="15" name="auc card 3"/>
          <p:cNvSpPr/>
          <p:nvPr/>
        </p:nvSpPr>
        <p:spPr>
          <a:xfrm>
            <a:off x="6400800" y="4160520"/>
            <a:ext cx="5212080" cy="960120"/>
          </a:xfrm>
          <a:prstGeom prst="roundRect">
            <a:avLst>
              <a:gd name="adj" fmla="val 11429"/>
            </a:avLst>
          </a:prstGeom>
          <a:solidFill>
            <a:schemeClr val="bg2"/>
          </a:solidFill>
          <a:ln/>
        </p:spPr>
      </p:sp>
      <p:sp>
        <p:nvSpPr>
          <p:cNvPr id="16" name="auc dot 3"/>
          <p:cNvSpPr/>
          <p:nvPr/>
        </p:nvSpPr>
        <p:spPr>
          <a:xfrm>
            <a:off x="6629400" y="4544568"/>
            <a:ext cx="201168" cy="201168"/>
          </a:xfrm>
          <a:prstGeom prst="ellipse">
            <a:avLst/>
          </a:prstGeom>
          <a:solidFill>
            <a:schemeClr val="accent3"/>
          </a:solidFill>
          <a:ln/>
        </p:spPr>
      </p:sp>
      <p:sp>
        <p:nvSpPr>
          <p:cNvPr id="17" name="Text 14"/>
          <p:cNvSpPr txBox="1"/>
          <p:nvPr/>
        </p:nvSpPr>
        <p:spPr>
          <a:xfrm>
            <a:off x="6995160" y="4453128"/>
            <a:ext cx="2194560" cy="365760"/>
          </a:xfrm>
          <a:prstGeom prst="rect">
            <a:avLst/>
          </a:prstGeom>
          <a:noFill/>
          <a:ln/>
        </p:spPr>
        <p:txBody>
          <a:bodyPr wrap="square" lIns="0" tIns="0" rIns="0" bIns="0" rtlCol="0" anchor="t"/>
          <a:lstStyle/>
          <a:p>
            <a:pPr indent="0" marL="0">
              <a:buNone/>
            </a:pPr>
            <a:r>
              <a:rPr lang="en-US" sz="1700" b="1" dirty="0">
                <a:solidFill>
                  <a:schemeClr val="tx2"/>
                </a:solidFill>
              </a:rPr>
              <a:t>MLP</a:t>
            </a:r>
            <a:endParaRPr lang="en-US" sz="1700" dirty="0"/>
          </a:p>
        </p:txBody>
      </p:sp>
      <p:sp>
        <p:nvSpPr>
          <p:cNvPr id="18" name="Text 15"/>
          <p:cNvSpPr txBox="1"/>
          <p:nvPr/>
        </p:nvSpPr>
        <p:spPr>
          <a:xfrm>
            <a:off x="9144000" y="4325112"/>
            <a:ext cx="109728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0.903</a:t>
            </a:r>
            <a:endParaRPr lang="en-US" sz="3000" dirty="0"/>
          </a:p>
        </p:txBody>
      </p:sp>
      <p:sp>
        <p:nvSpPr>
          <p:cNvPr id="19" name="Text 16"/>
          <p:cNvSpPr txBox="1"/>
          <p:nvPr/>
        </p:nvSpPr>
        <p:spPr>
          <a:xfrm>
            <a:off x="10241280" y="4489704"/>
            <a:ext cx="1280160" cy="365760"/>
          </a:xfrm>
          <a:prstGeom prst="rect">
            <a:avLst/>
          </a:prstGeom>
          <a:noFill/>
          <a:ln/>
        </p:spPr>
        <p:txBody>
          <a:bodyPr wrap="square" lIns="0" tIns="0" rIns="0" bIns="0" rtlCol="0" anchor="t"/>
          <a:lstStyle/>
          <a:p>
            <a:pPr indent="0" marL="0">
              <a:buNone/>
            </a:pPr>
            <a:r>
              <a:rPr lang="en-US" sz="1300" dirty="0">
                <a:solidFill>
                  <a:schemeClr val="accent5"/>
                </a:solidFill>
              </a:rPr>
              <a:t>[0.868, 0.936]</a:t>
            </a:r>
            <a:endParaRPr lang="en-US" sz="1300" dirty="0"/>
          </a:p>
        </p:txBody>
      </p:sp>
      <p:sp>
        <p:nvSpPr>
          <p:cNvPr id="20" name="Text 17"/>
          <p:cNvSpPr txBox="1"/>
          <p:nvPr/>
        </p:nvSpPr>
        <p:spPr>
          <a:xfrm>
            <a:off x="6400800" y="5349240"/>
            <a:ext cx="5212080" cy="822960"/>
          </a:xfrm>
          <a:prstGeom prst="rect">
            <a:avLst/>
          </a:prstGeom>
          <a:noFill/>
          <a:ln/>
        </p:spPr>
        <p:txBody>
          <a:bodyPr wrap="square" lIns="0" tIns="0" rIns="0" bIns="0" rtlCol="0" anchor="t"/>
          <a:lstStyle/>
          <a:p>
            <a:pPr indent="0" marL="0">
              <a:buNone/>
            </a:pPr>
            <a:r>
              <a:rPr lang="en-US" sz="1500" i="1" dirty="0">
                <a:solidFill>
                  <a:schemeClr val="tx1"/>
                </a:solidFill>
              </a:rPr>
              <a:t>Differences are at most 0.006, while each interval is about ±0.03 wide. PR AUC tells the same story (0.895–0.905).</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Paired comparison: no model wins on ranking</a:t>
            </a:r>
            <a:endParaRPr lang="en-US" sz="3400" dirty="0"/>
          </a:p>
        </p:txBody>
      </p:sp>
      <p:graphicFrame>
        <p:nvGraphicFramePr>
          <p:cNvPr id="11" name="paired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560320"/>
                <a:gridCol w="2834640"/>
                <a:gridCol w="2834640"/>
                <a:gridCol w="2834640"/>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Comparison</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ROC AUC difference</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Brier difference</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Log-loss difference</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BN − Naive Bayes</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 [−0.004, 0.013]</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−0.008 [−0.017, 0.002]</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−0.048 [−0.081, −0.018]</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4"/>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BN − MLP</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+0.005 [−0.012, 0.021]</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+0.005 [−0.008, 0.019]</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+0.025 [−0.027, 0.080]</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Naive Bayes − MLP</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+0.001 [−0.014, 0.016]</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+0.013 [−0.002, 0.029]</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+0.073 [0.007, 0.145]</a:t>
                      </a:r>
                      <a:endParaRPr lang="en-US" sz="1400" dirty="0">
                        <a:latin typeface="Calibri" charset="0"/>
                        <a:ea typeface="Calibri" charset="0"/>
                        <a:cs typeface="Calibri" charset="0"/>
                      </a:endParaRPr>
                    </a:p>
                  </a:txBody>
                  <a:tcPr marL="91440" marR="91440" marT="91440" marB="9144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4"/>
                    </a:solidFill>
                  </a:tcPr>
                </a:tc>
              </a:tr>
            </a:tbl>
          </a:graphicData>
        </a:graphic>
      </p:graphicFrame>
      <p:sp>
        <p:nvSpPr>
          <p:cNvPr id="4" name="Text 1"/>
          <p:cNvSpPr txBox="1"/>
          <p:nvPr/>
        </p:nvSpPr>
        <p:spPr>
          <a:xfrm>
            <a:off x="548640" y="3931920"/>
            <a:ext cx="11064240" cy="365760"/>
          </a:xfrm>
          <a:prstGeom prst="rect">
            <a:avLst/>
          </a:prstGeom>
          <a:noFill/>
          <a:ln/>
        </p:spPr>
        <p:txBody>
          <a:bodyPr wrap="square" lIns="0" tIns="0" rIns="0" bIns="0" rtlCol="0" anchor="t"/>
          <a:lstStyle/>
          <a:p>
            <a:pPr indent="0" marL="0">
              <a:buNone/>
            </a:pPr>
            <a:r>
              <a:rPr lang="en-US" sz="1300" dirty="0">
                <a:solidFill>
                  <a:schemeClr val="accent5"/>
                </a:solidFill>
              </a:rPr>
              <a:t>Estimate and 95% paired patient-level bootstrap interval. Red cells: interval excludes zero.</a:t>
            </a:r>
            <a:endParaRPr lang="en-US" sz="1300" dirty="0"/>
          </a:p>
        </p:txBody>
      </p:sp>
      <p:sp>
        <p:nvSpPr>
          <p:cNvPr id="5" name="takeaway 1"/>
          <p:cNvSpPr/>
          <p:nvPr/>
        </p:nvSpPr>
        <p:spPr>
          <a:xfrm>
            <a:off x="548640" y="4526280"/>
            <a:ext cx="5440680" cy="1600200"/>
          </a:xfrm>
          <a:prstGeom prst="roundRect">
            <a:avLst>
              <a:gd name="adj" fmla="val 6857"/>
            </a:avLst>
          </a:prstGeom>
          <a:solidFill>
            <a:schemeClr val="bg2"/>
          </a:solidFill>
          <a:ln/>
        </p:spPr>
      </p:sp>
      <p:sp>
        <p:nvSpPr>
          <p:cNvPr id="6" name="takeaway 1 circle"/>
          <p:cNvSpPr/>
          <p:nvPr/>
        </p:nvSpPr>
        <p:spPr>
          <a:xfrm>
            <a:off x="777240" y="4937760"/>
            <a:ext cx="731520" cy="731520"/>
          </a:xfrm>
          <a:prstGeom prst="ellipse">
            <a:avLst/>
          </a:prstGeom>
          <a:solidFill>
            <a:schemeClr val="accent1"/>
          </a:solidFill>
          <a:ln/>
        </p:spPr>
      </p:sp>
      <p:pic>
        <p:nvPicPr>
          <p:cNvPr id="7" name="takeaway 1 icon" descr="preencoded.png">    </p:cNvPr>
          <p:cNvPicPr>
            <a:picLocks noChangeAspect="1"/>
          </p:cNvPicPr>
          <p:nvPr/>
        </p:nvPicPr>
        <p:blipFill>
          <a:blip r:embed="rId1"/>
          <a:stretch>
            <a:fillRect/>
          </a:stretch>
        </p:blipFill>
        <p:spPr>
          <a:xfrm>
            <a:off x="960120" y="5120640"/>
            <a:ext cx="365760" cy="365760"/>
          </a:xfrm>
          <a:prstGeom prst="rect">
            <a:avLst/>
          </a:prstGeom>
        </p:spPr>
      </p:pic>
      <p:sp>
        <p:nvSpPr>
          <p:cNvPr id="8" name="Text 4"/>
          <p:cNvSpPr txBox="1"/>
          <p:nvPr/>
        </p:nvSpPr>
        <p:spPr>
          <a:xfrm>
            <a:off x="1737360" y="4681728"/>
            <a:ext cx="4069080" cy="365760"/>
          </a:xfrm>
          <a:prstGeom prst="rect">
            <a:avLst/>
          </a:prstGeom>
          <a:noFill/>
          <a:ln/>
        </p:spPr>
        <p:txBody>
          <a:bodyPr wrap="square" lIns="0" tIns="0" rIns="0" bIns="0" rtlCol="0" anchor="t"/>
          <a:lstStyle/>
          <a:p>
            <a:pPr indent="0" marL="0">
              <a:buNone/>
            </a:pPr>
            <a:r>
              <a:rPr lang="en-US" sz="1700" b="1" dirty="0">
                <a:solidFill>
                  <a:schemeClr val="tx2"/>
                </a:solidFill>
              </a:rPr>
              <a:t>Ranking</a:t>
            </a:r>
            <a:endParaRPr lang="en-US" sz="1700" dirty="0"/>
          </a:p>
        </p:txBody>
      </p:sp>
      <p:sp>
        <p:nvSpPr>
          <p:cNvPr id="9" name="Text 5"/>
          <p:cNvSpPr txBox="1"/>
          <p:nvPr/>
        </p:nvSpPr>
        <p:spPr>
          <a:xfrm>
            <a:off x="1737360" y="5074920"/>
            <a:ext cx="4069080" cy="960120"/>
          </a:xfrm>
          <a:prstGeom prst="rect">
            <a:avLst/>
          </a:prstGeom>
          <a:noFill/>
          <a:ln/>
        </p:spPr>
        <p:txBody>
          <a:bodyPr wrap="square" lIns="0" tIns="0" rIns="0" bIns="0" rtlCol="0" anchor="t"/>
          <a:lstStyle/>
          <a:p>
            <a:pPr indent="0" marL="0">
              <a:buNone/>
            </a:pPr>
            <a:r>
              <a:rPr lang="en-US" sz="1400" dirty="0">
                <a:solidFill>
                  <a:schemeClr val="tx1"/>
                </a:solidFill>
              </a:rPr>
              <a:t>Every ROC and PR AUC interval includes zero: no evidence one model ranks patients better.</a:t>
            </a:r>
            <a:endParaRPr lang="en-US" sz="1400" dirty="0"/>
          </a:p>
        </p:txBody>
      </p:sp>
      <p:sp>
        <p:nvSpPr>
          <p:cNvPr id="10" name="takeaway 2"/>
          <p:cNvSpPr/>
          <p:nvPr/>
        </p:nvSpPr>
        <p:spPr>
          <a:xfrm>
            <a:off x="6172200" y="4526280"/>
            <a:ext cx="5440680" cy="1600200"/>
          </a:xfrm>
          <a:prstGeom prst="roundRect">
            <a:avLst>
              <a:gd name="adj" fmla="val 6857"/>
            </a:avLst>
          </a:prstGeom>
          <a:solidFill>
            <a:schemeClr val="bg2"/>
          </a:solidFill>
          <a:ln/>
        </p:spPr>
      </p:sp>
      <p:sp>
        <p:nvSpPr>
          <p:cNvPr id="11" name="takeaway 2 circle"/>
          <p:cNvSpPr/>
          <p:nvPr/>
        </p:nvSpPr>
        <p:spPr>
          <a:xfrm>
            <a:off x="6400800" y="4937760"/>
            <a:ext cx="731520" cy="731520"/>
          </a:xfrm>
          <a:prstGeom prst="ellipse">
            <a:avLst/>
          </a:prstGeom>
          <a:solidFill>
            <a:schemeClr val="accent4"/>
          </a:solidFill>
          <a:ln/>
        </p:spPr>
      </p:sp>
      <p:pic>
        <p:nvPicPr>
          <p:cNvPr id="12" name="takeaway 2 icon" descr="preencoded.png">    </p:cNvPr>
          <p:cNvPicPr>
            <a:picLocks noChangeAspect="1"/>
          </p:cNvPicPr>
          <p:nvPr/>
        </p:nvPicPr>
        <p:blipFill>
          <a:blip r:embed="rId2"/>
          <a:stretch>
            <a:fillRect/>
          </a:stretch>
        </p:blipFill>
        <p:spPr>
          <a:xfrm>
            <a:off x="6583680" y="5120640"/>
            <a:ext cx="365760" cy="365760"/>
          </a:xfrm>
          <a:prstGeom prst="rect">
            <a:avLst/>
          </a:prstGeom>
        </p:spPr>
      </p:pic>
      <p:sp>
        <p:nvSpPr>
          <p:cNvPr id="13" name="Text 8"/>
          <p:cNvSpPr txBox="1"/>
          <p:nvPr/>
        </p:nvSpPr>
        <p:spPr>
          <a:xfrm>
            <a:off x="7360920" y="4681728"/>
            <a:ext cx="4069080" cy="365760"/>
          </a:xfrm>
          <a:prstGeom prst="rect">
            <a:avLst/>
          </a:prstGeom>
          <a:noFill/>
          <a:ln/>
        </p:spPr>
        <p:txBody>
          <a:bodyPr wrap="square" lIns="0" tIns="0" rIns="0" bIns="0" rtlCol="0" anchor="t"/>
          <a:lstStyle/>
          <a:p>
            <a:pPr indent="0" marL="0">
              <a:buNone/>
            </a:pPr>
            <a:r>
              <a:rPr lang="en-US" sz="1700" b="1" dirty="0">
                <a:solidFill>
                  <a:schemeClr val="tx2"/>
                </a:solidFill>
              </a:rPr>
              <a:t>Probability quality</a:t>
            </a:r>
            <a:endParaRPr lang="en-US" sz="1700" dirty="0"/>
          </a:p>
        </p:txBody>
      </p:sp>
      <p:sp>
        <p:nvSpPr>
          <p:cNvPr id="14" name="Text 9"/>
          <p:cNvSpPr txBox="1"/>
          <p:nvPr/>
        </p:nvSpPr>
        <p:spPr>
          <a:xfrm>
            <a:off x="7360920" y="5074920"/>
            <a:ext cx="4069080" cy="960120"/>
          </a:xfrm>
          <a:prstGeom prst="rect">
            <a:avLst/>
          </a:prstGeom>
          <a:noFill/>
          <a:ln/>
        </p:spPr>
        <p:txBody>
          <a:bodyPr wrap="square" lIns="0" tIns="0" rIns="0" bIns="0" rtlCol="0" anchor="t"/>
          <a:lstStyle/>
          <a:p>
            <a:pPr indent="0" marL="0">
              <a:buNone/>
            </a:pPr>
            <a:r>
              <a:rPr lang="en-US" sz="1400" dirty="0">
                <a:solidFill>
                  <a:schemeClr val="tx1"/>
                </a:solidFill>
              </a:rPr>
              <a:t>Only log loss separates models: Naive Bayes is worse than both BN and MLP. Exploratory, no multiplicity correction.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MLP's probabilities are best calibrated</a:t>
            </a:r>
            <a:endParaRPr lang="en-US" sz="3400" dirty="0"/>
          </a:p>
        </p:txBody>
      </p:sp>
      <p:pic>
        <p:nvPicPr>
          <p:cNvPr id="3" name="calibration curves" descr="Reliability diagram: MLP follows the diagonal; BN and Naive Bayes curves are flatter, and their predictions pile up near 0 and 1">    </p:cNvPr>
          <p:cNvPicPr>
            <a:picLocks noChangeAspect="1"/>
          </p:cNvPicPr>
          <p:nvPr/>
        </p:nvPicPr>
        <p:blipFill>
          <a:blip r:embed="rId1"/>
          <a:stretch>
            <a:fillRect/>
          </a:stretch>
        </p:blipFill>
        <p:spPr>
          <a:xfrm>
            <a:off x="457200" y="1234440"/>
            <a:ext cx="4023360" cy="5029200"/>
          </a:xfrm>
          <a:prstGeom prst="rect">
            <a:avLst/>
          </a:prstGeom>
        </p:spPr>
      </p:pic>
      <p:graphicFrame>
        <p:nvGraphicFramePr>
          <p:cNvPr id="4" name="Chart 0" descr=""/>
          <p:cNvGraphicFramePr/>
          <p:nvPr/>
        </p:nvGraphicFramePr>
        <p:xfrm>
          <a:off x="4754880" y="1325880"/>
          <a:ext cx="3931920" cy="36576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846320" y="5074920"/>
            <a:ext cx="3840480" cy="822960"/>
          </a:xfrm>
          <a:prstGeom prst="rect">
            <a:avLst/>
          </a:prstGeom>
          <a:noFill/>
          <a:ln/>
        </p:spPr>
        <p:txBody>
          <a:bodyPr wrap="square" lIns="0" tIns="0" rIns="0" bIns="0" rtlCol="0" anchor="t"/>
          <a:lstStyle/>
          <a:p>
            <a:pPr indent="0" marL="0">
              <a:buNone/>
            </a:pPr>
            <a:r>
              <a:rPr lang="en-US" sz="1400" i="1" dirty="0">
                <a:solidFill>
                  <a:schemeClr val="tx1"/>
                </a:solidFill>
              </a:rPr>
              <a:t>Slope below 1 means over-confident: predictions are more extreme than reality.</a:t>
            </a:r>
            <a:endParaRPr lang="en-US" sz="1400" dirty="0"/>
          </a:p>
        </p:txBody>
      </p:sp>
      <p:sp>
        <p:nvSpPr>
          <p:cNvPr id="6" name="calibration metrics card"/>
          <p:cNvSpPr/>
          <p:nvPr/>
        </p:nvSpPr>
        <p:spPr>
          <a:xfrm>
            <a:off x="8961120" y="1417320"/>
            <a:ext cx="2651760" cy="4709160"/>
          </a:xfrm>
          <a:prstGeom prst="roundRect">
            <a:avLst>
              <a:gd name="adj" fmla="val 4138"/>
            </a:avLst>
          </a:prstGeom>
          <a:solidFill>
            <a:schemeClr val="bg2"/>
          </a:solidFill>
          <a:ln/>
        </p:spPr>
      </p:sp>
      <p:sp>
        <p:nvSpPr>
          <p:cNvPr id="7" name="Text 3"/>
          <p:cNvSpPr txBox="1"/>
          <p:nvPr/>
        </p:nvSpPr>
        <p:spPr>
          <a:xfrm>
            <a:off x="9144000" y="1554480"/>
            <a:ext cx="2286000" cy="320040"/>
          </a:xfrm>
          <a:prstGeom prst="rect">
            <a:avLst/>
          </a:prstGeom>
          <a:noFill/>
          <a:ln/>
        </p:spPr>
        <p:txBody>
          <a:bodyPr wrap="square" lIns="0" tIns="0" rIns="0" bIns="0" rtlCol="0" anchor="t"/>
          <a:lstStyle/>
          <a:p>
            <a:pPr indent="0" marL="0">
              <a:buNone/>
            </a:pPr>
            <a:r>
              <a:rPr lang="en-US" sz="1300" dirty="0">
                <a:solidFill>
                  <a:schemeClr val="accent5"/>
                </a:solidFill>
              </a:rPr>
              <a:t>Lower is better</a:t>
            </a:r>
            <a:endParaRPr lang="en-US" sz="1300" dirty="0"/>
          </a:p>
        </p:txBody>
      </p:sp>
      <p:sp>
        <p:nvSpPr>
          <p:cNvPr id="8" name="Text 4"/>
          <p:cNvSpPr txBox="1"/>
          <p:nvPr/>
        </p:nvSpPr>
        <p:spPr>
          <a:xfrm>
            <a:off x="9144000" y="19659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Brier</a:t>
            </a:r>
            <a:endParaRPr lang="en-US" sz="1500" dirty="0"/>
          </a:p>
        </p:txBody>
      </p:sp>
      <p:sp>
        <p:nvSpPr>
          <p:cNvPr id="9" name="cal dot 0-0"/>
          <p:cNvSpPr/>
          <p:nvPr/>
        </p:nvSpPr>
        <p:spPr>
          <a:xfrm>
            <a:off x="9144000" y="2450592"/>
            <a:ext cx="146304" cy="146304"/>
          </a:xfrm>
          <a:prstGeom prst="ellipse">
            <a:avLst/>
          </a:prstGeom>
          <a:solidFill>
            <a:schemeClr val="accent1"/>
          </a:solidFill>
          <a:ln/>
        </p:spPr>
      </p:sp>
      <p:sp>
        <p:nvSpPr>
          <p:cNvPr id="10" name="Text 6"/>
          <p:cNvSpPr txBox="1"/>
          <p:nvPr/>
        </p:nvSpPr>
        <p:spPr>
          <a:xfrm>
            <a:off x="9326880" y="2350008"/>
            <a:ext cx="594360" cy="365760"/>
          </a:xfrm>
          <a:prstGeom prst="rect">
            <a:avLst/>
          </a:prstGeom>
          <a:noFill/>
          <a:ln/>
        </p:spPr>
        <p:txBody>
          <a:bodyPr wrap="square" lIns="0" tIns="0" rIns="0" bIns="0" rtlCol="0" anchor="t"/>
          <a:lstStyle/>
          <a:p>
            <a:pPr indent="0" marL="0">
              <a:buNone/>
            </a:pPr>
            <a:r>
              <a:rPr lang="en-US" sz="1300" dirty="0">
                <a:solidFill>
                  <a:schemeClr val="tx1"/>
                </a:solidFill>
              </a:rPr>
              <a:t>0.127</a:t>
            </a:r>
            <a:endParaRPr lang="en-US" sz="1300" dirty="0"/>
          </a:p>
        </p:txBody>
      </p:sp>
      <p:sp>
        <p:nvSpPr>
          <p:cNvPr id="11" name="cal dot 0-1"/>
          <p:cNvSpPr/>
          <p:nvPr/>
        </p:nvSpPr>
        <p:spPr>
          <a:xfrm>
            <a:off x="9921240" y="2450592"/>
            <a:ext cx="146304" cy="146304"/>
          </a:xfrm>
          <a:prstGeom prst="ellipse">
            <a:avLst/>
          </a:prstGeom>
          <a:solidFill>
            <a:schemeClr val="accent2"/>
          </a:solidFill>
          <a:ln/>
        </p:spPr>
      </p:sp>
      <p:sp>
        <p:nvSpPr>
          <p:cNvPr id="12" name="Text 8"/>
          <p:cNvSpPr txBox="1"/>
          <p:nvPr/>
        </p:nvSpPr>
        <p:spPr>
          <a:xfrm>
            <a:off x="10104120" y="2350008"/>
            <a:ext cx="594360" cy="365760"/>
          </a:xfrm>
          <a:prstGeom prst="rect">
            <a:avLst/>
          </a:prstGeom>
          <a:noFill/>
          <a:ln/>
        </p:spPr>
        <p:txBody>
          <a:bodyPr wrap="square" lIns="0" tIns="0" rIns="0" bIns="0" rtlCol="0" anchor="t"/>
          <a:lstStyle/>
          <a:p>
            <a:pPr indent="0" marL="0">
              <a:buNone/>
            </a:pPr>
            <a:r>
              <a:rPr lang="en-US" sz="1300" dirty="0">
                <a:solidFill>
                  <a:schemeClr val="tx1"/>
                </a:solidFill>
              </a:rPr>
              <a:t>0.134</a:t>
            </a:r>
            <a:endParaRPr lang="en-US" sz="1300" dirty="0"/>
          </a:p>
        </p:txBody>
      </p:sp>
      <p:sp>
        <p:nvSpPr>
          <p:cNvPr id="13" name="cal dot 0-2"/>
          <p:cNvSpPr/>
          <p:nvPr/>
        </p:nvSpPr>
        <p:spPr>
          <a:xfrm>
            <a:off x="10698480" y="2450592"/>
            <a:ext cx="146304" cy="146304"/>
          </a:xfrm>
          <a:prstGeom prst="ellipse">
            <a:avLst/>
          </a:prstGeom>
          <a:solidFill>
            <a:schemeClr val="accent3"/>
          </a:solidFill>
          <a:ln/>
        </p:spPr>
      </p:sp>
      <p:sp>
        <p:nvSpPr>
          <p:cNvPr id="14" name="Text 10"/>
          <p:cNvSpPr txBox="1"/>
          <p:nvPr/>
        </p:nvSpPr>
        <p:spPr>
          <a:xfrm>
            <a:off x="10881360" y="2350008"/>
            <a:ext cx="594360" cy="365760"/>
          </a:xfrm>
          <a:prstGeom prst="rect">
            <a:avLst/>
          </a:prstGeom>
          <a:noFill/>
          <a:ln/>
        </p:spPr>
        <p:txBody>
          <a:bodyPr wrap="square" lIns="0" tIns="0" rIns="0" bIns="0" rtlCol="0" anchor="t"/>
          <a:lstStyle/>
          <a:p>
            <a:pPr indent="0" marL="0">
              <a:buNone/>
            </a:pPr>
            <a:r>
              <a:rPr lang="en-US" sz="1300" b="1" dirty="0">
                <a:solidFill>
                  <a:schemeClr val="tx1"/>
                </a:solidFill>
              </a:rPr>
              <a:t>0.121</a:t>
            </a:r>
            <a:endParaRPr lang="en-US" sz="1300" dirty="0"/>
          </a:p>
        </p:txBody>
      </p:sp>
      <p:sp>
        <p:nvSpPr>
          <p:cNvPr id="15" name="Text 11"/>
          <p:cNvSpPr txBox="1"/>
          <p:nvPr/>
        </p:nvSpPr>
        <p:spPr>
          <a:xfrm>
            <a:off x="9144000" y="33375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ECE</a:t>
            </a:r>
            <a:endParaRPr lang="en-US" sz="1500" dirty="0"/>
          </a:p>
        </p:txBody>
      </p:sp>
      <p:sp>
        <p:nvSpPr>
          <p:cNvPr id="16" name="cal dot 1-0"/>
          <p:cNvSpPr/>
          <p:nvPr/>
        </p:nvSpPr>
        <p:spPr>
          <a:xfrm>
            <a:off x="9144000" y="3822192"/>
            <a:ext cx="146304" cy="146304"/>
          </a:xfrm>
          <a:prstGeom prst="ellipse">
            <a:avLst/>
          </a:prstGeom>
          <a:solidFill>
            <a:schemeClr val="accent1"/>
          </a:solidFill>
          <a:ln/>
        </p:spPr>
      </p:sp>
      <p:sp>
        <p:nvSpPr>
          <p:cNvPr id="17" name="Text 13"/>
          <p:cNvSpPr txBox="1"/>
          <p:nvPr/>
        </p:nvSpPr>
        <p:spPr>
          <a:xfrm>
            <a:off x="9326880" y="3721608"/>
            <a:ext cx="594360" cy="365760"/>
          </a:xfrm>
          <a:prstGeom prst="rect">
            <a:avLst/>
          </a:prstGeom>
          <a:noFill/>
          <a:ln/>
        </p:spPr>
        <p:txBody>
          <a:bodyPr wrap="square" lIns="0" tIns="0" rIns="0" bIns="0" rtlCol="0" anchor="t"/>
          <a:lstStyle/>
          <a:p>
            <a:pPr indent="0" marL="0">
              <a:buNone/>
            </a:pPr>
            <a:r>
              <a:rPr lang="en-US" sz="1300" dirty="0">
                <a:solidFill>
                  <a:schemeClr val="tx1"/>
                </a:solidFill>
              </a:rPr>
              <a:t>0.082</a:t>
            </a:r>
            <a:endParaRPr lang="en-US" sz="1300" dirty="0"/>
          </a:p>
        </p:txBody>
      </p:sp>
      <p:sp>
        <p:nvSpPr>
          <p:cNvPr id="18" name="cal dot 1-1"/>
          <p:cNvSpPr/>
          <p:nvPr/>
        </p:nvSpPr>
        <p:spPr>
          <a:xfrm>
            <a:off x="9921240" y="3822192"/>
            <a:ext cx="146304" cy="146304"/>
          </a:xfrm>
          <a:prstGeom prst="ellipse">
            <a:avLst/>
          </a:prstGeom>
          <a:solidFill>
            <a:schemeClr val="accent2"/>
          </a:solidFill>
          <a:ln/>
        </p:spPr>
      </p:sp>
      <p:sp>
        <p:nvSpPr>
          <p:cNvPr id="19" name="Text 15"/>
          <p:cNvSpPr txBox="1"/>
          <p:nvPr/>
        </p:nvSpPr>
        <p:spPr>
          <a:xfrm>
            <a:off x="10104120" y="3721608"/>
            <a:ext cx="594360" cy="365760"/>
          </a:xfrm>
          <a:prstGeom prst="rect">
            <a:avLst/>
          </a:prstGeom>
          <a:noFill/>
          <a:ln/>
        </p:spPr>
        <p:txBody>
          <a:bodyPr wrap="square" lIns="0" tIns="0" rIns="0" bIns="0" rtlCol="0" anchor="t"/>
          <a:lstStyle/>
          <a:p>
            <a:pPr indent="0" marL="0">
              <a:buNone/>
            </a:pPr>
            <a:r>
              <a:rPr lang="en-US" sz="1300" dirty="0">
                <a:solidFill>
                  <a:schemeClr val="tx1"/>
                </a:solidFill>
              </a:rPr>
              <a:t>0.101</a:t>
            </a:r>
            <a:endParaRPr lang="en-US" sz="1300" dirty="0"/>
          </a:p>
        </p:txBody>
      </p:sp>
      <p:sp>
        <p:nvSpPr>
          <p:cNvPr id="20" name="cal dot 1-2"/>
          <p:cNvSpPr/>
          <p:nvPr/>
        </p:nvSpPr>
        <p:spPr>
          <a:xfrm>
            <a:off x="10698480" y="3822192"/>
            <a:ext cx="146304" cy="146304"/>
          </a:xfrm>
          <a:prstGeom prst="ellipse">
            <a:avLst/>
          </a:prstGeom>
          <a:solidFill>
            <a:schemeClr val="accent3"/>
          </a:solidFill>
          <a:ln/>
        </p:spPr>
      </p:sp>
      <p:sp>
        <p:nvSpPr>
          <p:cNvPr id="21" name="Text 17"/>
          <p:cNvSpPr txBox="1"/>
          <p:nvPr/>
        </p:nvSpPr>
        <p:spPr>
          <a:xfrm>
            <a:off x="10881360" y="3721608"/>
            <a:ext cx="594360" cy="365760"/>
          </a:xfrm>
          <a:prstGeom prst="rect">
            <a:avLst/>
          </a:prstGeom>
          <a:noFill/>
          <a:ln/>
        </p:spPr>
        <p:txBody>
          <a:bodyPr wrap="square" lIns="0" tIns="0" rIns="0" bIns="0" rtlCol="0" anchor="t"/>
          <a:lstStyle/>
          <a:p>
            <a:pPr indent="0" marL="0">
              <a:buNone/>
            </a:pPr>
            <a:r>
              <a:rPr lang="en-US" sz="1300" b="1" dirty="0">
                <a:solidFill>
                  <a:schemeClr val="tx1"/>
                </a:solidFill>
              </a:rPr>
              <a:t>0.059</a:t>
            </a:r>
            <a:endParaRPr lang="en-US" sz="1300" dirty="0"/>
          </a:p>
        </p:txBody>
      </p:sp>
      <p:sp>
        <p:nvSpPr>
          <p:cNvPr id="22" name="Text 18"/>
          <p:cNvSpPr txBox="1"/>
          <p:nvPr/>
        </p:nvSpPr>
        <p:spPr>
          <a:xfrm>
            <a:off x="9144000" y="47091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Log loss</a:t>
            </a:r>
            <a:endParaRPr lang="en-US" sz="1500" dirty="0"/>
          </a:p>
        </p:txBody>
      </p:sp>
      <p:sp>
        <p:nvSpPr>
          <p:cNvPr id="23" name="cal dot 2-0"/>
          <p:cNvSpPr/>
          <p:nvPr/>
        </p:nvSpPr>
        <p:spPr>
          <a:xfrm>
            <a:off x="9144000" y="5193792"/>
            <a:ext cx="146304" cy="146304"/>
          </a:xfrm>
          <a:prstGeom prst="ellipse">
            <a:avLst/>
          </a:prstGeom>
          <a:solidFill>
            <a:schemeClr val="accent1"/>
          </a:solidFill>
          <a:ln/>
        </p:spPr>
      </p:sp>
      <p:sp>
        <p:nvSpPr>
          <p:cNvPr id="24" name="Text 20"/>
          <p:cNvSpPr txBox="1"/>
          <p:nvPr/>
        </p:nvSpPr>
        <p:spPr>
          <a:xfrm>
            <a:off x="9326880" y="5093208"/>
            <a:ext cx="594360" cy="365760"/>
          </a:xfrm>
          <a:prstGeom prst="rect">
            <a:avLst/>
          </a:prstGeom>
          <a:noFill/>
          <a:ln/>
        </p:spPr>
        <p:txBody>
          <a:bodyPr wrap="square" lIns="0" tIns="0" rIns="0" bIns="0" rtlCol="0" anchor="t"/>
          <a:lstStyle/>
          <a:p>
            <a:pPr indent="0" marL="0">
              <a:buNone/>
            </a:pPr>
            <a:r>
              <a:rPr lang="en-US" sz="1300" dirty="0">
                <a:solidFill>
                  <a:schemeClr val="tx1"/>
                </a:solidFill>
              </a:rPr>
              <a:t>0.417</a:t>
            </a:r>
            <a:endParaRPr lang="en-US" sz="1300" dirty="0"/>
          </a:p>
        </p:txBody>
      </p:sp>
      <p:sp>
        <p:nvSpPr>
          <p:cNvPr id="25" name="cal dot 2-1"/>
          <p:cNvSpPr/>
          <p:nvPr/>
        </p:nvSpPr>
        <p:spPr>
          <a:xfrm>
            <a:off x="9921240" y="5193792"/>
            <a:ext cx="146304" cy="146304"/>
          </a:xfrm>
          <a:prstGeom prst="ellipse">
            <a:avLst/>
          </a:prstGeom>
          <a:solidFill>
            <a:schemeClr val="accent2"/>
          </a:solidFill>
          <a:ln/>
        </p:spPr>
      </p:sp>
      <p:sp>
        <p:nvSpPr>
          <p:cNvPr id="26" name="Text 22"/>
          <p:cNvSpPr txBox="1"/>
          <p:nvPr/>
        </p:nvSpPr>
        <p:spPr>
          <a:xfrm>
            <a:off x="10104120" y="5093208"/>
            <a:ext cx="594360" cy="365760"/>
          </a:xfrm>
          <a:prstGeom prst="rect">
            <a:avLst/>
          </a:prstGeom>
          <a:noFill/>
          <a:ln/>
        </p:spPr>
        <p:txBody>
          <a:bodyPr wrap="square" lIns="0" tIns="0" rIns="0" bIns="0" rtlCol="0" anchor="t"/>
          <a:lstStyle/>
          <a:p>
            <a:pPr indent="0" marL="0">
              <a:buNone/>
            </a:pPr>
            <a:r>
              <a:rPr lang="en-US" sz="1300" dirty="0">
                <a:solidFill>
                  <a:schemeClr val="tx1"/>
                </a:solidFill>
              </a:rPr>
              <a:t>0.465</a:t>
            </a:r>
            <a:endParaRPr lang="en-US" sz="1300" dirty="0"/>
          </a:p>
        </p:txBody>
      </p:sp>
      <p:sp>
        <p:nvSpPr>
          <p:cNvPr id="27" name="cal dot 2-2"/>
          <p:cNvSpPr/>
          <p:nvPr/>
        </p:nvSpPr>
        <p:spPr>
          <a:xfrm>
            <a:off x="10698480" y="5193792"/>
            <a:ext cx="146304" cy="146304"/>
          </a:xfrm>
          <a:prstGeom prst="ellipse">
            <a:avLst/>
          </a:prstGeom>
          <a:solidFill>
            <a:schemeClr val="accent3"/>
          </a:solidFill>
          <a:ln/>
        </p:spPr>
      </p:sp>
      <p:sp>
        <p:nvSpPr>
          <p:cNvPr id="28" name="Text 24"/>
          <p:cNvSpPr txBox="1"/>
          <p:nvPr/>
        </p:nvSpPr>
        <p:spPr>
          <a:xfrm>
            <a:off x="10881360" y="5093208"/>
            <a:ext cx="594360" cy="365760"/>
          </a:xfrm>
          <a:prstGeom prst="rect">
            <a:avLst/>
          </a:prstGeom>
          <a:noFill/>
          <a:ln/>
        </p:spPr>
        <p:txBody>
          <a:bodyPr wrap="square" lIns="0" tIns="0" rIns="0" bIns="0" rtlCol="0" anchor="t"/>
          <a:lstStyle/>
          <a:p>
            <a:pPr indent="0" marL="0">
              <a:buNone/>
            </a:pPr>
            <a:r>
              <a:rPr lang="en-US" sz="1300" b="1" dirty="0">
                <a:solidFill>
                  <a:schemeClr val="tx1"/>
                </a:solidFill>
              </a:rPr>
              <a:t>0.391</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About 1 in 5 diseased patients is missed</a:t>
            </a:r>
            <a:endParaRPr lang="en-US" sz="3400" dirty="0"/>
          </a:p>
        </p:txBody>
      </p:sp>
      <p:graphicFrame>
        <p:nvGraphicFramePr>
          <p:cNvPr id="3" name="Chart 0" descr=""/>
          <p:cNvGraphicFramePr/>
          <p:nvPr/>
        </p:nvGraphicFramePr>
        <p:xfrm>
          <a:off x="548640" y="137160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rate card 1"/>
          <p:cNvSpPr/>
          <p:nvPr/>
        </p:nvSpPr>
        <p:spPr>
          <a:xfrm>
            <a:off x="7315200" y="1463040"/>
            <a:ext cx="4297680" cy="1371600"/>
          </a:xfrm>
          <a:prstGeom prst="roundRect">
            <a:avLst>
              <a:gd name="adj" fmla="val 8000"/>
            </a:avLst>
          </a:prstGeom>
          <a:solidFill>
            <a:schemeClr val="bg2"/>
          </a:solidFill>
          <a:ln/>
        </p:spPr>
      </p:sp>
      <p:sp>
        <p:nvSpPr>
          <p:cNvPr id="5" name="Text 2"/>
          <p:cNvSpPr txBox="1"/>
          <p:nvPr/>
        </p:nvSpPr>
        <p:spPr>
          <a:xfrm>
            <a:off x="7543800" y="1600200"/>
            <a:ext cx="2011680" cy="365760"/>
          </a:xfrm>
          <a:prstGeom prst="rect">
            <a:avLst/>
          </a:prstGeom>
          <a:noFill/>
          <a:ln/>
        </p:spPr>
        <p:txBody>
          <a:bodyPr wrap="square" lIns="0" tIns="0" rIns="0" bIns="0" rtlCol="0" anchor="t"/>
          <a:lstStyle/>
          <a:p>
            <a:pPr indent="0" marL="0">
              <a:buNone/>
            </a:pPr>
            <a:r>
              <a:rPr lang="en-US" sz="1500" b="1" dirty="0">
                <a:solidFill>
                  <a:schemeClr val="tx2"/>
                </a:solidFill>
              </a:rPr>
              <a:t>Sensitivity</a:t>
            </a:r>
            <a:endParaRPr lang="en-US" sz="1500" dirty="0"/>
          </a:p>
        </p:txBody>
      </p:sp>
      <p:sp>
        <p:nvSpPr>
          <p:cNvPr id="6" name="Text 3"/>
          <p:cNvSpPr txBox="1"/>
          <p:nvPr/>
        </p:nvSpPr>
        <p:spPr>
          <a:xfrm>
            <a:off x="9418320" y="1536192"/>
            <a:ext cx="2057400" cy="548640"/>
          </a:xfrm>
          <a:prstGeom prst="rect">
            <a:avLst/>
          </a:prstGeom>
          <a:noFill/>
          <a:ln/>
        </p:spPr>
        <p:txBody>
          <a:bodyPr wrap="square" lIns="0" tIns="0" rIns="0" bIns="0" rtlCol="0" anchor="t"/>
          <a:lstStyle/>
          <a:p>
            <a:pPr algn="r" indent="0" marL="0">
              <a:buNone/>
            </a:pPr>
            <a:r>
              <a:rPr lang="en-US" sz="2600" b="1" dirty="0">
                <a:solidFill>
                  <a:schemeClr val="accent4"/>
                </a:solidFill>
                <a:latin typeface="Cambria" pitchFamily="34" charset="0"/>
                <a:ea typeface="Cambria" pitchFamily="34" charset="-122"/>
                <a:cs typeface="Cambria" pitchFamily="34" charset="-120"/>
              </a:rPr>
              <a:t>0.79–0.80</a:t>
            </a:r>
            <a:endParaRPr lang="en-US" sz="2600" dirty="0"/>
          </a:p>
        </p:txBody>
      </p:sp>
      <p:sp>
        <p:nvSpPr>
          <p:cNvPr id="7" name="Text 4"/>
          <p:cNvSpPr txBox="1"/>
          <p:nvPr/>
        </p:nvSpPr>
        <p:spPr>
          <a:xfrm>
            <a:off x="7543800" y="2148840"/>
            <a:ext cx="3931920" cy="594360"/>
          </a:xfrm>
          <a:prstGeom prst="rect">
            <a:avLst/>
          </a:prstGeom>
          <a:noFill/>
          <a:ln/>
        </p:spPr>
        <p:txBody>
          <a:bodyPr wrap="square" lIns="0" tIns="0" rIns="0" bIns="0" rtlCol="0" anchor="t"/>
          <a:lstStyle/>
          <a:p>
            <a:pPr indent="0" marL="0">
              <a:buNone/>
            </a:pPr>
            <a:r>
              <a:rPr lang="en-US" sz="1400" dirty="0">
                <a:solidFill>
                  <a:schemeClr val="tx1"/>
                </a:solidFill>
              </a:rPr>
              <a:t>share of diseased patients detected</a:t>
            </a:r>
            <a:endParaRPr lang="en-US" sz="1400" dirty="0"/>
          </a:p>
        </p:txBody>
      </p:sp>
      <p:sp>
        <p:nvSpPr>
          <p:cNvPr id="8" name="rate card 2"/>
          <p:cNvSpPr/>
          <p:nvPr/>
        </p:nvSpPr>
        <p:spPr>
          <a:xfrm>
            <a:off x="7315200" y="3063240"/>
            <a:ext cx="4297680" cy="1371600"/>
          </a:xfrm>
          <a:prstGeom prst="roundRect">
            <a:avLst>
              <a:gd name="adj" fmla="val 8000"/>
            </a:avLst>
          </a:prstGeom>
          <a:solidFill>
            <a:schemeClr val="bg2"/>
          </a:solidFill>
          <a:ln/>
        </p:spPr>
      </p:sp>
      <p:sp>
        <p:nvSpPr>
          <p:cNvPr id="9" name="Text 6"/>
          <p:cNvSpPr txBox="1"/>
          <p:nvPr/>
        </p:nvSpPr>
        <p:spPr>
          <a:xfrm>
            <a:off x="7543800" y="3200400"/>
            <a:ext cx="2011680" cy="365760"/>
          </a:xfrm>
          <a:prstGeom prst="rect">
            <a:avLst/>
          </a:prstGeom>
          <a:noFill/>
          <a:ln/>
        </p:spPr>
        <p:txBody>
          <a:bodyPr wrap="square" lIns="0" tIns="0" rIns="0" bIns="0" rtlCol="0" anchor="t"/>
          <a:lstStyle/>
          <a:p>
            <a:pPr indent="0" marL="0">
              <a:buNone/>
            </a:pPr>
            <a:r>
              <a:rPr lang="en-US" sz="1500" b="1" dirty="0">
                <a:solidFill>
                  <a:schemeClr val="tx2"/>
                </a:solidFill>
              </a:rPr>
              <a:t>Specificity</a:t>
            </a:r>
            <a:endParaRPr lang="en-US" sz="1500" dirty="0"/>
          </a:p>
        </p:txBody>
      </p:sp>
      <p:sp>
        <p:nvSpPr>
          <p:cNvPr id="10" name="Text 7"/>
          <p:cNvSpPr txBox="1"/>
          <p:nvPr/>
        </p:nvSpPr>
        <p:spPr>
          <a:xfrm>
            <a:off x="9418320" y="3136392"/>
            <a:ext cx="2057400" cy="548640"/>
          </a:xfrm>
          <a:prstGeom prst="rect">
            <a:avLst/>
          </a:prstGeom>
          <a:noFill/>
          <a:ln/>
        </p:spPr>
        <p:txBody>
          <a:bodyPr wrap="square" lIns="0" tIns="0" rIns="0" bIns="0" rtlCol="0" anchor="t"/>
          <a:lstStyle/>
          <a:p>
            <a:pPr algn="r" indent="0" marL="0">
              <a:buNone/>
            </a:pPr>
            <a:r>
              <a:rPr lang="en-US" sz="2600" b="1" dirty="0">
                <a:solidFill>
                  <a:schemeClr val="accent4"/>
                </a:solidFill>
                <a:latin typeface="Cambria" pitchFamily="34" charset="0"/>
                <a:ea typeface="Cambria" pitchFamily="34" charset="-122"/>
                <a:cs typeface="Cambria" pitchFamily="34" charset="-120"/>
              </a:rPr>
              <a:t>0.85–0.87</a:t>
            </a:r>
            <a:endParaRPr lang="en-US" sz="2600" dirty="0"/>
          </a:p>
        </p:txBody>
      </p:sp>
      <p:sp>
        <p:nvSpPr>
          <p:cNvPr id="11" name="Text 8"/>
          <p:cNvSpPr txBox="1"/>
          <p:nvPr/>
        </p:nvSpPr>
        <p:spPr>
          <a:xfrm>
            <a:off x="7543800" y="3749040"/>
            <a:ext cx="3931920" cy="594360"/>
          </a:xfrm>
          <a:prstGeom prst="rect">
            <a:avLst/>
          </a:prstGeom>
          <a:noFill/>
          <a:ln/>
        </p:spPr>
        <p:txBody>
          <a:bodyPr wrap="square" lIns="0" tIns="0" rIns="0" bIns="0" rtlCol="0" anchor="t"/>
          <a:lstStyle/>
          <a:p>
            <a:pPr indent="0" marL="0">
              <a:buNone/>
            </a:pPr>
            <a:r>
              <a:rPr lang="en-US" sz="1400" dirty="0">
                <a:solidFill>
                  <a:schemeClr val="tx1"/>
                </a:solidFill>
              </a:rPr>
              <a:t>share of healthy patients cleared</a:t>
            </a:r>
            <a:endParaRPr lang="en-US" sz="1400" dirty="0"/>
          </a:p>
        </p:txBody>
      </p:sp>
      <p:sp>
        <p:nvSpPr>
          <p:cNvPr id="12" name="rate card 3"/>
          <p:cNvSpPr/>
          <p:nvPr/>
        </p:nvSpPr>
        <p:spPr>
          <a:xfrm>
            <a:off x="7315200" y="4663440"/>
            <a:ext cx="4297680" cy="1371600"/>
          </a:xfrm>
          <a:prstGeom prst="roundRect">
            <a:avLst>
              <a:gd name="adj" fmla="val 8000"/>
            </a:avLst>
          </a:prstGeom>
          <a:solidFill>
            <a:schemeClr val="bg2"/>
          </a:solidFill>
          <a:ln/>
        </p:spPr>
      </p:sp>
      <p:sp>
        <p:nvSpPr>
          <p:cNvPr id="13" name="Text 10"/>
          <p:cNvSpPr txBox="1"/>
          <p:nvPr/>
        </p:nvSpPr>
        <p:spPr>
          <a:xfrm>
            <a:off x="7543800" y="4800600"/>
            <a:ext cx="2011680" cy="365760"/>
          </a:xfrm>
          <a:prstGeom prst="rect">
            <a:avLst/>
          </a:prstGeom>
          <a:noFill/>
          <a:ln/>
        </p:spPr>
        <p:txBody>
          <a:bodyPr wrap="square" lIns="0" tIns="0" rIns="0" bIns="0" rtlCol="0" anchor="t"/>
          <a:lstStyle/>
          <a:p>
            <a:pPr indent="0" marL="0">
              <a:buNone/>
            </a:pPr>
            <a:r>
              <a:rPr lang="en-US" sz="1500" b="1" dirty="0">
                <a:solidFill>
                  <a:schemeClr val="tx2"/>
                </a:solidFill>
              </a:rPr>
              <a:t>Youden threshold</a:t>
            </a:r>
            <a:endParaRPr lang="en-US" sz="1500" dirty="0"/>
          </a:p>
        </p:txBody>
      </p:sp>
      <p:sp>
        <p:nvSpPr>
          <p:cNvPr id="14" name="Text 11"/>
          <p:cNvSpPr txBox="1"/>
          <p:nvPr/>
        </p:nvSpPr>
        <p:spPr>
          <a:xfrm>
            <a:off x="9418320" y="4736592"/>
            <a:ext cx="2057400" cy="548640"/>
          </a:xfrm>
          <a:prstGeom prst="rect">
            <a:avLst/>
          </a:prstGeom>
          <a:noFill/>
          <a:ln/>
        </p:spPr>
        <p:txBody>
          <a:bodyPr wrap="square" lIns="0" tIns="0" rIns="0" bIns="0" rtlCol="0" anchor="t"/>
          <a:lstStyle/>
          <a:p>
            <a:pPr algn="r" indent="0" marL="0">
              <a:buNone/>
            </a:pPr>
            <a:r>
              <a:rPr lang="en-US" sz="2600" b="1" dirty="0">
                <a:solidFill>
                  <a:schemeClr val="accent4"/>
                </a:solidFill>
                <a:latin typeface="Cambria" pitchFamily="34" charset="0"/>
                <a:ea typeface="Cambria" pitchFamily="34" charset="-122"/>
                <a:cs typeface="Cambria" pitchFamily="34" charset="-120"/>
              </a:rPr>
              <a:t>no gain</a:t>
            </a:r>
            <a:endParaRPr lang="en-US" sz="2600" dirty="0"/>
          </a:p>
        </p:txBody>
      </p:sp>
      <p:sp>
        <p:nvSpPr>
          <p:cNvPr id="15" name="Text 12"/>
          <p:cNvSpPr txBox="1"/>
          <p:nvPr/>
        </p:nvSpPr>
        <p:spPr>
          <a:xfrm>
            <a:off x="7543800" y="5349240"/>
            <a:ext cx="3931920" cy="594360"/>
          </a:xfrm>
          <a:prstGeom prst="rect">
            <a:avLst/>
          </a:prstGeom>
          <a:noFill/>
          <a:ln/>
        </p:spPr>
        <p:txBody>
          <a:bodyPr wrap="square" lIns="0" tIns="0" rIns="0" bIns="0" rtlCol="0" anchor="t"/>
          <a:lstStyle/>
          <a:p>
            <a:pPr indent="0" marL="0">
              <a:buNone/>
            </a:pPr>
            <a:r>
              <a:rPr lang="en-US" sz="1400" dirty="0">
                <a:solidFill>
                  <a:schemeClr val="tx1"/>
                </a:solidFill>
              </a:rPr>
              <a:t>tuning the threshold on training data did not raise sensitivity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drives the MLP's predictions</a:t>
            </a:r>
            <a:endParaRPr lang="en-US" sz="3400" dirty="0"/>
          </a:p>
        </p:txBody>
      </p:sp>
      <p:graphicFrame>
        <p:nvGraphicFramePr>
          <p:cNvPr id="3" name="Chart 0" descr=""/>
          <p:cNvGraphicFramePr/>
          <p:nvPr/>
        </p:nvGraphicFramePr>
        <p:xfrm>
          <a:off x="548640" y="132588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4" name="agree card"/>
          <p:cNvSpPr/>
          <p:nvPr/>
        </p:nvSpPr>
        <p:spPr>
          <a:xfrm>
            <a:off x="7223760" y="1417320"/>
            <a:ext cx="4389120" cy="2103120"/>
          </a:xfrm>
          <a:prstGeom prst="roundRect">
            <a:avLst>
              <a:gd name="adj" fmla="val 5217"/>
            </a:avLst>
          </a:prstGeom>
          <a:solidFill>
            <a:schemeClr val="bg2"/>
          </a:solidFill>
          <a:ln/>
        </p:spPr>
      </p:sp>
      <p:sp>
        <p:nvSpPr>
          <p:cNvPr id="5" name="Text 2"/>
          <p:cNvSpPr txBox="1"/>
          <p:nvPr/>
        </p:nvSpPr>
        <p:spPr>
          <a:xfrm>
            <a:off x="7452360" y="1600200"/>
            <a:ext cx="3931920" cy="365760"/>
          </a:xfrm>
          <a:prstGeom prst="rect">
            <a:avLst/>
          </a:prstGeom>
          <a:noFill/>
          <a:ln/>
        </p:spPr>
        <p:txBody>
          <a:bodyPr wrap="square" lIns="0" tIns="0" rIns="0" bIns="0" rtlCol="0" anchor="t"/>
          <a:lstStyle/>
          <a:p>
            <a:pPr indent="0" marL="0">
              <a:buNone/>
            </a:pPr>
            <a:r>
              <a:rPr lang="en-US" sz="1700" b="1" dirty="0">
                <a:solidFill>
                  <a:schemeClr val="tx2"/>
                </a:solidFill>
              </a:rPr>
              <a:t>Two methods agree</a:t>
            </a:r>
            <a:endParaRPr lang="en-US" sz="1700" dirty="0"/>
          </a:p>
        </p:txBody>
      </p:sp>
      <p:sp>
        <p:nvSpPr>
          <p:cNvPr id="6" name="Text 3"/>
          <p:cNvSpPr txBox="1"/>
          <p:nvPr/>
        </p:nvSpPr>
        <p:spPr>
          <a:xfrm>
            <a:off x="7452360" y="2011680"/>
            <a:ext cx="3931920" cy="1371600"/>
          </a:xfrm>
          <a:prstGeom prst="rect">
            <a:avLst/>
          </a:prstGeom>
          <a:noFill/>
          <a:ln/>
        </p:spPr>
        <p:txBody>
          <a:bodyPr wrap="square" lIns="0" tIns="0" rIns="0" bIns="0" rtlCol="0" anchor="t"/>
          <a:lstStyle/>
          <a:p>
            <a:pPr indent="0" marL="0">
              <a:buNone/>
            </a:pPr>
            <a:r>
              <a:rPr lang="en-US" sz="1500" dirty="0">
                <a:solidFill>
                  <a:schemeClr val="tx1"/>
                </a:solidFill>
              </a:rPr>
              <a:t>SHAP and permutation importance both put ca (vessels on fluoroscopy), cp (chest pain) and thal (perfusion scan) first, then oldpeak.</a:t>
            </a:r>
            <a:endParaRPr lang="en-US" sz="1500" dirty="0"/>
          </a:p>
        </p:txBody>
      </p:sp>
      <p:sp>
        <p:nvSpPr>
          <p:cNvPr id="7" name="caveat card"/>
          <p:cNvSpPr/>
          <p:nvPr/>
        </p:nvSpPr>
        <p:spPr>
          <a:xfrm>
            <a:off x="7223760" y="3794760"/>
            <a:ext cx="4389120" cy="2331720"/>
          </a:xfrm>
          <a:prstGeom prst="roundRect">
            <a:avLst>
              <a:gd name="adj" fmla="val 4706"/>
            </a:avLst>
          </a:prstGeom>
          <a:solidFill>
            <a:schemeClr val="bg2"/>
          </a:solidFill>
          <a:ln/>
        </p:spPr>
      </p:sp>
      <p:sp>
        <p:nvSpPr>
          <p:cNvPr id="8" name="Text 5"/>
          <p:cNvSpPr txBox="1"/>
          <p:nvPr/>
        </p:nvSpPr>
        <p:spPr>
          <a:xfrm>
            <a:off x="7452360" y="3977640"/>
            <a:ext cx="3931920" cy="365760"/>
          </a:xfrm>
          <a:prstGeom prst="rect">
            <a:avLst/>
          </a:prstGeom>
          <a:noFill/>
          <a:ln/>
        </p:spPr>
        <p:txBody>
          <a:bodyPr wrap="square" lIns="0" tIns="0" rIns="0" bIns="0" rtlCol="0" anchor="t"/>
          <a:lstStyle/>
          <a:p>
            <a:pPr indent="0" marL="0">
              <a:buNone/>
            </a:pPr>
            <a:r>
              <a:rPr lang="en-US" sz="1700" b="1" dirty="0">
                <a:solidFill>
                  <a:schemeClr val="accent4"/>
                </a:solidFill>
              </a:rPr>
              <a:t>Read with care</a:t>
            </a:r>
            <a:endParaRPr lang="en-US" sz="1700" dirty="0"/>
          </a:p>
        </p:txBody>
      </p:sp>
      <p:sp>
        <p:nvSpPr>
          <p:cNvPr id="9" name="Text 6"/>
          <p:cNvSpPr txBox="1"/>
          <p:nvPr/>
        </p:nvSpPr>
        <p:spPr>
          <a:xfrm>
            <a:off x="7452360" y="4389120"/>
            <a:ext cx="3977640" cy="16459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Describes this fitted model, not causes in patients</a:t>
            </a:r>
            <a:endParaRPr lang="en-US" sz="1400" dirty="0"/>
          </a:p>
          <a:p>
            <a:pPr marL="342900" indent="-342900">
              <a:spcAft>
                <a:spcPts val="800"/>
              </a:spcAft>
              <a:buSzPct val="100000"/>
              <a:buChar char="•"/>
            </a:pPr>
            <a:r>
              <a:rPr lang="en-US" sz="1400" dirty="0">
                <a:solidFill>
                  <a:schemeClr val="tx1"/>
                </a:solidFill>
              </a:rPr>
              <a:t>Correlated features share credit: low rank for age ≠ irrelevant</a:t>
            </a:r>
            <a:endParaRPr lang="en-US" sz="1400" dirty="0"/>
          </a:p>
          <a:p>
            <a:pPr marL="342900" indent="-342900">
              <a:spcAft>
                <a:spcPts val="800"/>
              </a:spcAft>
              <a:buSzPct val="100000"/>
              <a:buChar char="•"/>
            </a:pPr>
            <a:r>
              <a:rPr lang="en-US" sz="1400" dirty="0">
                <a:solidFill>
                  <a:schemeClr val="tx1"/>
                </a:solidFill>
              </a:rPr>
              <a:t>Top three come from specialist tests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Interactive web app (Streamlit)</a:t>
            </a:r>
            <a:endParaRPr lang="en-US" sz="3400" dirty="0"/>
          </a:p>
        </p:txBody>
      </p:sp>
      <p:pic>
        <p:nvPicPr>
          <p:cNvPr id="3" name="app overview" descr="Overview page of the web app with headline ROC AUC results">    </p:cNvPr>
          <p:cNvPicPr>
            <a:picLocks noChangeAspect="1"/>
          </p:cNvPicPr>
          <p:nvPr/>
        </p:nvPicPr>
        <p:blipFill>
          <a:blip r:embed="rId1"/>
          <a:stretch>
            <a:fillRect/>
          </a:stretch>
        </p:blipFill>
        <p:spPr>
          <a:xfrm>
            <a:off x="548640" y="1371600"/>
            <a:ext cx="5394960" cy="3221990"/>
          </a:xfrm>
          <a:prstGeom prst="rect">
            <a:avLst/>
          </a:prstGeom>
          <a:effectLst>
            <a:outerShdw sx="100000" sy="100000" kx="0" ky="0" algn="bl" rotWithShape="0" blurRad="76200" dist="25400" dir="5400000">
              <a:srgbClr val="000000">
                <a:alpha val="12000"/>
              </a:srgbClr>
            </a:outerShdw>
          </a:effectLst>
        </p:spPr>
      </p:pic>
      <p:pic>
        <p:nvPicPr>
          <p:cNvPr id="4" name="app estimator" descr="Risk estimator page showing probabilities from the three models and a SHAP explanation">    </p:cNvPr>
          <p:cNvPicPr>
            <a:picLocks noChangeAspect="1"/>
          </p:cNvPicPr>
          <p:nvPr/>
        </p:nvPicPr>
        <p:blipFill>
          <a:blip r:embed="rId2"/>
          <a:stretch>
            <a:fillRect/>
          </a:stretch>
        </p:blipFill>
        <p:spPr>
          <a:xfrm>
            <a:off x="6217920" y="1371600"/>
            <a:ext cx="5394960" cy="3221990"/>
          </a:xfrm>
          <a:prstGeom prst="rect">
            <a:avLst/>
          </a:prstGeom>
          <a:effectLst>
            <a:outerShdw sx="100000" sy="100000" kx="0" ky="0" algn="bl" rotWithShape="0" blurRad="76200" dist="25400" dir="5400000">
              <a:srgbClr val="000000">
                <a:alpha val="12000"/>
              </a:srgbClr>
            </a:outerShdw>
          </a:effectLst>
        </p:spPr>
      </p:pic>
      <p:sp>
        <p:nvSpPr>
          <p:cNvPr id="5" name="Text 1"/>
          <p:cNvSpPr txBox="1"/>
          <p:nvPr/>
        </p:nvSpPr>
        <p:spPr>
          <a:xfrm>
            <a:off x="548640" y="4709160"/>
            <a:ext cx="5394960" cy="320040"/>
          </a:xfrm>
          <a:prstGeom prst="rect">
            <a:avLst/>
          </a:prstGeom>
          <a:noFill/>
          <a:ln/>
        </p:spPr>
        <p:txBody>
          <a:bodyPr wrap="square" lIns="0" tIns="0" rIns="0" bIns="0" rtlCol="0" anchor="t"/>
          <a:lstStyle/>
          <a:p>
            <a:pPr indent="0" marL="0">
              <a:buNone/>
            </a:pPr>
            <a:r>
              <a:rPr lang="en-US" sz="1400" b="1" dirty="0">
                <a:solidFill>
                  <a:schemeClr val="tx2"/>
                </a:solidFill>
              </a:rPr>
              <a:t>Overview: headline results</a:t>
            </a:r>
            <a:endParaRPr lang="en-US" sz="1400" dirty="0"/>
          </a:p>
        </p:txBody>
      </p:sp>
      <p:sp>
        <p:nvSpPr>
          <p:cNvPr id="6" name="Text 2"/>
          <p:cNvSpPr txBox="1"/>
          <p:nvPr/>
        </p:nvSpPr>
        <p:spPr>
          <a:xfrm>
            <a:off x="6217920" y="4709160"/>
            <a:ext cx="5394960" cy="320040"/>
          </a:xfrm>
          <a:prstGeom prst="rect">
            <a:avLst/>
          </a:prstGeom>
          <a:noFill/>
          <a:ln/>
        </p:spPr>
        <p:txBody>
          <a:bodyPr wrap="square" lIns="0" tIns="0" rIns="0" bIns="0" rtlCol="0" anchor="t"/>
          <a:lstStyle/>
          <a:p>
            <a:pPr indent="0" marL="0">
              <a:buNone/>
            </a:pPr>
            <a:r>
              <a:rPr lang="en-US" sz="1400" b="1" dirty="0">
                <a:solidFill>
                  <a:schemeClr val="tx2"/>
                </a:solidFill>
              </a:rPr>
              <a:t>Risk estimator: three models side by side, plus a SHAP explanation</a:t>
            </a:r>
            <a:endParaRPr lang="en-US" sz="1400" dirty="0"/>
          </a:p>
        </p:txBody>
      </p:sp>
      <p:sp>
        <p:nvSpPr>
          <p:cNvPr id="7" name="Text 3"/>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500" dirty="0">
                <a:solidFill>
                  <a:schemeClr val="tx1"/>
                </a:solidFill>
              </a:rPr>
              <a:t>Five pages: Overview · Data explorer · Model results · Risk estimator (demo) · Methods and limitations. Disclaimer on every page, inputs validated, nothing stored, telemetry off.</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Engineering and reproducibility</a:t>
            </a:r>
            <a:endParaRPr lang="en-US" sz="3400" dirty="0"/>
          </a:p>
        </p:txBody>
      </p:sp>
      <p:sp>
        <p:nvSpPr>
          <p:cNvPr id="3" name="eng card 1"/>
          <p:cNvSpPr/>
          <p:nvPr/>
        </p:nvSpPr>
        <p:spPr>
          <a:xfrm>
            <a:off x="548640" y="1417320"/>
            <a:ext cx="5440680" cy="2194560"/>
          </a:xfrm>
          <a:prstGeom prst="roundRect">
            <a:avLst>
              <a:gd name="adj" fmla="val 5000"/>
            </a:avLst>
          </a:prstGeom>
          <a:solidFill>
            <a:schemeClr val="bg2"/>
          </a:solidFill>
          <a:ln/>
        </p:spPr>
      </p:sp>
      <p:sp>
        <p:nvSpPr>
          <p:cNvPr id="4" name="eng 1 circle"/>
          <p:cNvSpPr/>
          <p:nvPr/>
        </p:nvSpPr>
        <p:spPr>
          <a:xfrm>
            <a:off x="822960" y="1737360"/>
            <a:ext cx="777240" cy="777240"/>
          </a:xfrm>
          <a:prstGeom prst="ellipse">
            <a:avLst/>
          </a:prstGeom>
          <a:solidFill>
            <a:schemeClr val="accent3"/>
          </a:solidFill>
          <a:ln/>
        </p:spPr>
      </p:sp>
      <p:pic>
        <p:nvPicPr>
          <p:cNvPr id="5" name="eng 1 icon" descr="preencoded.png">    </p:cNvPr>
          <p:cNvPicPr>
            <a:picLocks noChangeAspect="1"/>
          </p:cNvPicPr>
          <p:nvPr/>
        </p:nvPicPr>
        <p:blipFill>
          <a:blip r:embed="rId1"/>
          <a:stretch>
            <a:fillRect/>
          </a:stretch>
        </p:blipFill>
        <p:spPr>
          <a:xfrm>
            <a:off x="1017270" y="1931670"/>
            <a:ext cx="388620" cy="388620"/>
          </a:xfrm>
          <a:prstGeom prst="rect">
            <a:avLst/>
          </a:prstGeom>
        </p:spPr>
      </p:pic>
      <p:sp>
        <p:nvSpPr>
          <p:cNvPr id="6" name="Text 3"/>
          <p:cNvSpPr txBox="1"/>
          <p:nvPr/>
        </p:nvSpPr>
        <p:spPr>
          <a:xfrm>
            <a:off x="1828800" y="1645920"/>
            <a:ext cx="4023360" cy="59436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135</a:t>
            </a:r>
            <a:endParaRPr lang="en-US" sz="3000" dirty="0"/>
          </a:p>
        </p:txBody>
      </p:sp>
      <p:sp>
        <p:nvSpPr>
          <p:cNvPr id="7" name="Text 4"/>
          <p:cNvSpPr txBox="1"/>
          <p:nvPr/>
        </p:nvSpPr>
        <p:spPr>
          <a:xfrm>
            <a:off x="1828800" y="2240280"/>
            <a:ext cx="4023360" cy="320040"/>
          </a:xfrm>
          <a:prstGeom prst="rect">
            <a:avLst/>
          </a:prstGeom>
          <a:noFill/>
          <a:ln/>
        </p:spPr>
        <p:txBody>
          <a:bodyPr wrap="square" lIns="0" tIns="0" rIns="0" bIns="0" rtlCol="0" anchor="t"/>
          <a:lstStyle/>
          <a:p>
            <a:pPr indent="0" marL="0">
              <a:buNone/>
            </a:pPr>
            <a:r>
              <a:rPr lang="en-US" sz="1500" b="1" dirty="0">
                <a:solidFill>
                  <a:schemeClr val="accent5"/>
                </a:solidFill>
              </a:rPr>
              <a:t>automated tests pass</a:t>
            </a:r>
            <a:endParaRPr lang="en-US" sz="1500" dirty="0"/>
          </a:p>
        </p:txBody>
      </p:sp>
      <p:sp>
        <p:nvSpPr>
          <p:cNvPr id="8" name="Text 5"/>
          <p:cNvSpPr txBox="1"/>
          <p:nvPr/>
        </p:nvSpPr>
        <p:spPr>
          <a:xfrm>
            <a:off x="1828800" y="2606040"/>
            <a:ext cx="3977640" cy="914400"/>
          </a:xfrm>
          <a:prstGeom prst="rect">
            <a:avLst/>
          </a:prstGeom>
          <a:noFill/>
          <a:ln/>
        </p:spPr>
        <p:txBody>
          <a:bodyPr wrap="square" lIns="0" tIns="0" rIns="0" bIns="0" rtlCol="0" anchor="t"/>
          <a:lstStyle/>
          <a:p>
            <a:pPr indent="0" marL="0">
              <a:buNone/>
            </a:pPr>
            <a:r>
              <a:rPr lang="en-US" sz="1400" dirty="0">
                <a:solidFill>
                  <a:schemeClr val="tx1"/>
                </a:solidFill>
              </a:rPr>
              <a:t>unit, integration and headless UI tests, including a re-run of one outer fold that must match saved predictions</a:t>
            </a:r>
            <a:endParaRPr lang="en-US" sz="1400" dirty="0"/>
          </a:p>
        </p:txBody>
      </p:sp>
      <p:sp>
        <p:nvSpPr>
          <p:cNvPr id="9" name="eng card 2"/>
          <p:cNvSpPr/>
          <p:nvPr/>
        </p:nvSpPr>
        <p:spPr>
          <a:xfrm>
            <a:off x="6172200" y="1417320"/>
            <a:ext cx="5440680" cy="2194560"/>
          </a:xfrm>
          <a:prstGeom prst="roundRect">
            <a:avLst>
              <a:gd name="adj" fmla="val 5000"/>
            </a:avLst>
          </a:prstGeom>
          <a:solidFill>
            <a:schemeClr val="bg2"/>
          </a:solidFill>
          <a:ln/>
        </p:spPr>
      </p:sp>
      <p:sp>
        <p:nvSpPr>
          <p:cNvPr id="10" name="eng 2 circle"/>
          <p:cNvSpPr/>
          <p:nvPr/>
        </p:nvSpPr>
        <p:spPr>
          <a:xfrm>
            <a:off x="6446520" y="1737360"/>
            <a:ext cx="777240" cy="777240"/>
          </a:xfrm>
          <a:prstGeom prst="ellipse">
            <a:avLst/>
          </a:prstGeom>
          <a:solidFill>
            <a:schemeClr val="accent1"/>
          </a:solidFill>
          <a:ln/>
        </p:spPr>
      </p:sp>
      <p:pic>
        <p:nvPicPr>
          <p:cNvPr id="11" name="eng 2 icon" descr="preencoded.png">    </p:cNvPr>
          <p:cNvPicPr>
            <a:picLocks noChangeAspect="1"/>
          </p:cNvPicPr>
          <p:nvPr/>
        </p:nvPicPr>
        <p:blipFill>
          <a:blip r:embed="rId2"/>
          <a:stretch>
            <a:fillRect/>
          </a:stretch>
        </p:blipFill>
        <p:spPr>
          <a:xfrm>
            <a:off x="6640830" y="1931670"/>
            <a:ext cx="388620" cy="388620"/>
          </a:xfrm>
          <a:prstGeom prst="rect">
            <a:avLst/>
          </a:prstGeom>
        </p:spPr>
      </p:pic>
      <p:sp>
        <p:nvSpPr>
          <p:cNvPr id="12" name="Text 8"/>
          <p:cNvSpPr txBox="1"/>
          <p:nvPr/>
        </p:nvSpPr>
        <p:spPr>
          <a:xfrm>
            <a:off x="7452360" y="1645920"/>
            <a:ext cx="4023360" cy="59436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28 / 28</a:t>
            </a:r>
            <a:endParaRPr lang="en-US" sz="3000" dirty="0"/>
          </a:p>
        </p:txBody>
      </p:sp>
      <p:sp>
        <p:nvSpPr>
          <p:cNvPr id="13" name="Text 9"/>
          <p:cNvSpPr txBox="1"/>
          <p:nvPr/>
        </p:nvSpPr>
        <p:spPr>
          <a:xfrm>
            <a:off x="7452360" y="2240280"/>
            <a:ext cx="4023360" cy="320040"/>
          </a:xfrm>
          <a:prstGeom prst="rect">
            <a:avLst/>
          </a:prstGeom>
          <a:noFill/>
          <a:ln/>
        </p:spPr>
        <p:txBody>
          <a:bodyPr wrap="square" lIns="0" tIns="0" rIns="0" bIns="0" rtlCol="0" anchor="t"/>
          <a:lstStyle/>
          <a:p>
            <a:pPr indent="0" marL="0">
              <a:buNone/>
            </a:pPr>
            <a:r>
              <a:rPr lang="en-US" sz="1500" b="1" dirty="0">
                <a:solidFill>
                  <a:schemeClr val="accent5"/>
                </a:solidFill>
              </a:rPr>
              <a:t>consistency audit checks</a:t>
            </a:r>
            <a:endParaRPr lang="en-US" sz="1500" dirty="0"/>
          </a:p>
        </p:txBody>
      </p:sp>
      <p:sp>
        <p:nvSpPr>
          <p:cNvPr id="14" name="Text 10"/>
          <p:cNvSpPr txBox="1"/>
          <p:nvPr/>
        </p:nvSpPr>
        <p:spPr>
          <a:xfrm>
            <a:off x="7452360" y="2606040"/>
            <a:ext cx="3977640" cy="914400"/>
          </a:xfrm>
          <a:prstGeom prst="rect">
            <a:avLst/>
          </a:prstGeom>
          <a:noFill/>
          <a:ln/>
        </p:spPr>
        <p:txBody>
          <a:bodyPr wrap="square" lIns="0" tIns="0" rIns="0" bIns="0" rtlCol="0" anchor="t"/>
          <a:lstStyle/>
          <a:p>
            <a:pPr indent="0" marL="0">
              <a:buNone/>
            </a:pPr>
            <a:r>
              <a:rPr lang="en-US" sz="1400" dirty="0">
                <a:solidFill>
                  <a:schemeClr val="tx1"/>
                </a:solidFill>
              </a:rPr>
              <a:t>report numbers, tables, figures and README are checked against the results files</a:t>
            </a:r>
            <a:endParaRPr lang="en-US" sz="1400" dirty="0"/>
          </a:p>
        </p:txBody>
      </p:sp>
      <p:sp>
        <p:nvSpPr>
          <p:cNvPr id="15" name="eng card 3"/>
          <p:cNvSpPr/>
          <p:nvPr/>
        </p:nvSpPr>
        <p:spPr>
          <a:xfrm>
            <a:off x="548640" y="3840480"/>
            <a:ext cx="5440680" cy="2194560"/>
          </a:xfrm>
          <a:prstGeom prst="roundRect">
            <a:avLst>
              <a:gd name="adj" fmla="val 5000"/>
            </a:avLst>
          </a:prstGeom>
          <a:solidFill>
            <a:schemeClr val="bg2"/>
          </a:solidFill>
          <a:ln/>
        </p:spPr>
      </p:sp>
      <p:sp>
        <p:nvSpPr>
          <p:cNvPr id="16" name="eng 3 circle"/>
          <p:cNvSpPr/>
          <p:nvPr/>
        </p:nvSpPr>
        <p:spPr>
          <a:xfrm>
            <a:off x="822960" y="4160520"/>
            <a:ext cx="777240" cy="777240"/>
          </a:xfrm>
          <a:prstGeom prst="ellipse">
            <a:avLst/>
          </a:prstGeom>
          <a:solidFill>
            <a:schemeClr val="accent4"/>
          </a:solidFill>
          <a:ln/>
        </p:spPr>
      </p:sp>
      <p:pic>
        <p:nvPicPr>
          <p:cNvPr id="17" name="eng 3 icon" descr="preencoded.png">    </p:cNvPr>
          <p:cNvPicPr>
            <a:picLocks noChangeAspect="1"/>
          </p:cNvPicPr>
          <p:nvPr/>
        </p:nvPicPr>
        <p:blipFill>
          <a:blip r:embed="rId3"/>
          <a:stretch>
            <a:fillRect/>
          </a:stretch>
        </p:blipFill>
        <p:spPr>
          <a:xfrm>
            <a:off x="1017270" y="4354830"/>
            <a:ext cx="388620" cy="388620"/>
          </a:xfrm>
          <a:prstGeom prst="rect">
            <a:avLst/>
          </a:prstGeom>
        </p:spPr>
      </p:pic>
      <p:sp>
        <p:nvSpPr>
          <p:cNvPr id="18" name="Text 13"/>
          <p:cNvSpPr txBox="1"/>
          <p:nvPr/>
        </p:nvSpPr>
        <p:spPr>
          <a:xfrm>
            <a:off x="1828800" y="4069080"/>
            <a:ext cx="4023360" cy="59436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Byte-identical</a:t>
            </a:r>
            <a:endParaRPr lang="en-US" sz="3000" dirty="0"/>
          </a:p>
        </p:txBody>
      </p:sp>
      <p:sp>
        <p:nvSpPr>
          <p:cNvPr id="19" name="Text 14"/>
          <p:cNvSpPr txBox="1"/>
          <p:nvPr/>
        </p:nvSpPr>
        <p:spPr>
          <a:xfrm>
            <a:off x="1828800" y="4663440"/>
            <a:ext cx="4023360" cy="320040"/>
          </a:xfrm>
          <a:prstGeom prst="rect">
            <a:avLst/>
          </a:prstGeom>
          <a:noFill/>
          <a:ln/>
        </p:spPr>
        <p:txBody>
          <a:bodyPr wrap="square" lIns="0" tIns="0" rIns="0" bIns="0" rtlCol="0" anchor="t"/>
          <a:lstStyle/>
          <a:p>
            <a:pPr indent="0" marL="0">
              <a:buNone/>
            </a:pPr>
            <a:r>
              <a:rPr lang="en-US" sz="1500" b="1" dirty="0">
                <a:solidFill>
                  <a:schemeClr val="accent5"/>
                </a:solidFill>
              </a:rPr>
              <a:t>clean rebuild</a:t>
            </a:r>
            <a:endParaRPr lang="en-US" sz="1500" dirty="0"/>
          </a:p>
        </p:txBody>
      </p:sp>
      <p:sp>
        <p:nvSpPr>
          <p:cNvPr id="20" name="Text 15"/>
          <p:cNvSpPr txBox="1"/>
          <p:nvPr/>
        </p:nvSpPr>
        <p:spPr>
          <a:xfrm>
            <a:off x="1828800" y="5029200"/>
            <a:ext cx="3977640" cy="914400"/>
          </a:xfrm>
          <a:prstGeom prst="rect">
            <a:avLst/>
          </a:prstGeom>
          <a:noFill/>
          <a:ln/>
        </p:spPr>
        <p:txBody>
          <a:bodyPr wrap="square" lIns="0" tIns="0" rIns="0" bIns="0" rtlCol="0" anchor="t"/>
          <a:lstStyle/>
          <a:p>
            <a:pPr indent="0" marL="0">
              <a:buNone/>
            </a:pPr>
            <a:r>
              <a:rPr lang="en-US" sz="1400" dirty="0">
                <a:solidFill>
                  <a:schemeClr val="tx1"/>
                </a:solidFill>
              </a:rPr>
              <a:t>fresh environment from the lock file reproduced every prediction and summary exactly</a:t>
            </a:r>
            <a:endParaRPr lang="en-US" sz="1400" dirty="0"/>
          </a:p>
        </p:txBody>
      </p:sp>
      <p:sp>
        <p:nvSpPr>
          <p:cNvPr id="21" name="eng card 4"/>
          <p:cNvSpPr/>
          <p:nvPr/>
        </p:nvSpPr>
        <p:spPr>
          <a:xfrm>
            <a:off x="6172200" y="3840480"/>
            <a:ext cx="5440680" cy="2194560"/>
          </a:xfrm>
          <a:prstGeom prst="roundRect">
            <a:avLst>
              <a:gd name="adj" fmla="val 5000"/>
            </a:avLst>
          </a:prstGeom>
          <a:solidFill>
            <a:schemeClr val="bg2"/>
          </a:solidFill>
          <a:ln/>
        </p:spPr>
      </p:sp>
      <p:sp>
        <p:nvSpPr>
          <p:cNvPr id="22" name="eng 4 circle"/>
          <p:cNvSpPr/>
          <p:nvPr/>
        </p:nvSpPr>
        <p:spPr>
          <a:xfrm>
            <a:off x="6446520" y="4160520"/>
            <a:ext cx="777240" cy="777240"/>
          </a:xfrm>
          <a:prstGeom prst="ellipse">
            <a:avLst/>
          </a:prstGeom>
          <a:solidFill>
            <a:schemeClr val="accent2"/>
          </a:solidFill>
          <a:ln/>
        </p:spPr>
      </p:sp>
      <p:pic>
        <p:nvPicPr>
          <p:cNvPr id="23" name="eng 4 icon" descr="preencoded.png">    </p:cNvPr>
          <p:cNvPicPr>
            <a:picLocks noChangeAspect="1"/>
          </p:cNvPicPr>
          <p:nvPr/>
        </p:nvPicPr>
        <p:blipFill>
          <a:blip r:embed="rId4"/>
          <a:stretch>
            <a:fillRect/>
          </a:stretch>
        </p:blipFill>
        <p:spPr>
          <a:xfrm>
            <a:off x="6640830" y="4354830"/>
            <a:ext cx="388620" cy="388620"/>
          </a:xfrm>
          <a:prstGeom prst="rect">
            <a:avLst/>
          </a:prstGeom>
        </p:spPr>
      </p:pic>
      <p:sp>
        <p:nvSpPr>
          <p:cNvPr id="24" name="Text 18"/>
          <p:cNvSpPr txBox="1"/>
          <p:nvPr/>
        </p:nvSpPr>
        <p:spPr>
          <a:xfrm>
            <a:off x="7452360" y="4069080"/>
            <a:ext cx="4023360" cy="59436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37</a:t>
            </a:r>
            <a:endParaRPr lang="en-US" sz="3000" dirty="0"/>
          </a:p>
        </p:txBody>
      </p:sp>
      <p:sp>
        <p:nvSpPr>
          <p:cNvPr id="25" name="Text 19"/>
          <p:cNvSpPr txBox="1"/>
          <p:nvPr/>
        </p:nvSpPr>
        <p:spPr>
          <a:xfrm>
            <a:off x="7452360" y="4663440"/>
            <a:ext cx="4023360" cy="320040"/>
          </a:xfrm>
          <a:prstGeom prst="rect">
            <a:avLst/>
          </a:prstGeom>
          <a:noFill/>
          <a:ln/>
        </p:spPr>
        <p:txBody>
          <a:bodyPr wrap="square" lIns="0" tIns="0" rIns="0" bIns="0" rtlCol="0" anchor="t"/>
          <a:lstStyle/>
          <a:p>
            <a:pPr indent="0" marL="0">
              <a:buNone/>
            </a:pPr>
            <a:r>
              <a:rPr lang="en-US" sz="1500" b="1" dirty="0">
                <a:solidFill>
                  <a:schemeClr val="accent5"/>
                </a:solidFill>
              </a:rPr>
              <a:t>Jupyter notebooks</a:t>
            </a:r>
            <a:endParaRPr lang="en-US" sz="1500" dirty="0"/>
          </a:p>
        </p:txBody>
      </p:sp>
      <p:sp>
        <p:nvSpPr>
          <p:cNvPr id="26" name="Text 20"/>
          <p:cNvSpPr txBox="1"/>
          <p:nvPr/>
        </p:nvSpPr>
        <p:spPr>
          <a:xfrm>
            <a:off x="7452360" y="5029200"/>
            <a:ext cx="3977640" cy="914400"/>
          </a:xfrm>
          <a:prstGeom prst="rect">
            <a:avLst/>
          </a:prstGeom>
          <a:noFill/>
          <a:ln/>
        </p:spPr>
        <p:txBody>
          <a:bodyPr wrap="square" lIns="0" tIns="0" rIns="0" bIns="0" rtlCol="0" anchor="t"/>
          <a:lstStyle/>
          <a:p>
            <a:pPr indent="0" marL="0">
              <a:buNone/>
            </a:pPr>
            <a:r>
              <a:rPr lang="en-US" sz="1400" dirty="0">
                <a:solidFill>
                  <a:schemeClr val="tx1"/>
                </a:solidFill>
              </a:rPr>
              <a:t>a notebook copy of every source file; all execute without error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Limitations and future work</a:t>
            </a:r>
            <a:endParaRPr lang="en-US" sz="3400" dirty="0"/>
          </a:p>
        </p:txBody>
      </p:sp>
      <p:sp>
        <p:nvSpPr>
          <p:cNvPr id="3" name="limits card"/>
          <p:cNvSpPr/>
          <p:nvPr/>
        </p:nvSpPr>
        <p:spPr>
          <a:xfrm>
            <a:off x="548640" y="1417320"/>
            <a:ext cx="5440680" cy="4709160"/>
          </a:xfrm>
          <a:prstGeom prst="roundRect">
            <a:avLst>
              <a:gd name="adj" fmla="val 2330"/>
            </a:avLst>
          </a:prstGeom>
          <a:solidFill>
            <a:schemeClr val="bg2"/>
          </a:solidFill>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Limitations</a:t>
            </a:r>
            <a:endParaRPr lang="en-US" sz="2000" dirty="0"/>
          </a:p>
        </p:txBody>
      </p:sp>
      <p:sp>
        <p:nvSpPr>
          <p:cNvPr id="5" name="Text 3"/>
          <p:cNvSpPr txBox="1"/>
          <p:nvPr/>
        </p:nvSpPr>
        <p:spPr>
          <a:xfrm>
            <a:off x="822960" y="2240280"/>
            <a:ext cx="4937760" cy="374904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303 patients, one centre, internal validation only</a:t>
            </a:r>
            <a:endParaRPr lang="en-US" sz="1700" dirty="0"/>
          </a:p>
          <a:p>
            <a:pPr marL="342900" indent="-342900">
              <a:spcAft>
                <a:spcPts val="1400"/>
              </a:spcAft>
              <a:buSzPct val="100000"/>
              <a:buChar char="•"/>
            </a:pPr>
            <a:r>
              <a:rPr lang="en-US" sz="1700" dirty="0">
                <a:solidFill>
                  <a:schemeClr val="tx1"/>
                </a:solidFill>
              </a:rPr>
              <a:t>Referral bias; predictors from specialist tests</a:t>
            </a:r>
            <a:endParaRPr lang="en-US" sz="1700" dirty="0"/>
          </a:p>
          <a:p>
            <a:pPr marL="342900" indent="-342900">
              <a:spcAft>
                <a:spcPts val="1400"/>
              </a:spcAft>
              <a:buSzPct val="100000"/>
              <a:buChar char="•"/>
            </a:pPr>
            <a:r>
              <a:rPr lang="en-US" sz="1700" dirty="0">
                <a:solidFill>
                  <a:schemeClr val="tx1"/>
                </a:solidFill>
              </a:rPr>
              <a:t>Severity levels collapsed into yes / no</a:t>
            </a:r>
            <a:endParaRPr lang="en-US" sz="1700" dirty="0"/>
          </a:p>
          <a:p>
            <a:pPr marL="342900" indent="-342900">
              <a:spcAft>
                <a:spcPts val="1400"/>
              </a:spcAft>
              <a:buSzPct val="100000"/>
              <a:buChar char="•"/>
            </a:pPr>
            <a:r>
              <a:rPr lang="en-US" sz="1700" dirty="0">
                <a:solidFill>
                  <a:schemeClr val="tx1"/>
                </a:solidFill>
              </a:rPr>
              <a:t>Mode imputation ignores uncertainty (6 rows)</a:t>
            </a:r>
            <a:endParaRPr lang="en-US" sz="1700" dirty="0"/>
          </a:p>
          <a:p>
            <a:pPr marL="342900" indent="-342900">
              <a:spcAft>
                <a:spcPts val="1400"/>
              </a:spcAft>
              <a:buSzPct val="100000"/>
              <a:buChar char="•"/>
            </a:pPr>
            <a:r>
              <a:rPr lang="en-US" sz="1700" dirty="0">
                <a:solidFill>
                  <a:schemeClr val="tx1"/>
                </a:solidFill>
              </a:rPr>
              <a:t>BN / NB smoothing hit the top of its grid in 25 / 25 folds</a:t>
            </a:r>
            <a:endParaRPr lang="en-US" sz="1700" dirty="0"/>
          </a:p>
          <a:p>
            <a:pPr marL="342900" indent="-342900">
              <a:spcAft>
                <a:spcPts val="1400"/>
              </a:spcAft>
              <a:buSzPct val="100000"/>
              <a:buChar char="•"/>
            </a:pPr>
            <a:r>
              <a:rPr lang="en-US" sz="1700" dirty="0">
                <a:solidFill>
                  <a:schemeClr val="tx1"/>
                </a:solidFill>
              </a:rPr>
              <a:t>BN structure assumed; one edge suggested by the EDA</a:t>
            </a:r>
            <a:endParaRPr lang="en-US" sz="1700" dirty="0"/>
          </a:p>
        </p:txBody>
      </p:sp>
      <p:sp>
        <p:nvSpPr>
          <p:cNvPr id="6" name="future card"/>
          <p:cNvSpPr/>
          <p:nvPr/>
        </p:nvSpPr>
        <p:spPr>
          <a:xfrm>
            <a:off x="6172200" y="1417320"/>
            <a:ext cx="5440680" cy="4709160"/>
          </a:xfrm>
          <a:prstGeom prst="roundRect">
            <a:avLst>
              <a:gd name="adj" fmla="val 2330"/>
            </a:avLst>
          </a:prstGeom>
          <a:solidFill>
            <a:schemeClr val="bg2"/>
          </a:solidFill>
          <a:ln/>
        </p:spPr>
      </p:sp>
      <p:sp>
        <p:nvSpPr>
          <p:cNvPr id="7" name="Text 5"/>
          <p:cNvSpPr txBox="1"/>
          <p:nvPr/>
        </p:nvSpPr>
        <p:spPr>
          <a:xfrm>
            <a:off x="6446520" y="1645920"/>
            <a:ext cx="4937760" cy="41148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Future work</a:t>
            </a:r>
            <a:endParaRPr lang="en-US" sz="2000" dirty="0"/>
          </a:p>
        </p:txBody>
      </p:sp>
      <p:sp>
        <p:nvSpPr>
          <p:cNvPr id="8" name="Text 6"/>
          <p:cNvSpPr txBox="1"/>
          <p:nvPr/>
        </p:nvSpPr>
        <p:spPr>
          <a:xfrm>
            <a:off x="6446520" y="2240280"/>
            <a:ext cx="4937760" cy="374904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Wider, pre-declared smoothing grids and recalibration</a:t>
            </a:r>
            <a:endParaRPr lang="en-US" sz="1700" dirty="0"/>
          </a:p>
          <a:p>
            <a:pPr marL="342900" indent="-342900">
              <a:spcAft>
                <a:spcPts val="1400"/>
              </a:spcAft>
              <a:buSzPct val="100000"/>
              <a:buChar char="•"/>
            </a:pPr>
            <a:r>
              <a:rPr lang="en-US" sz="1700" dirty="0">
                <a:solidFill>
                  <a:schemeClr val="tx1"/>
                </a:solidFill>
              </a:rPr>
              <a:t>Learn the BN structure from data and compare</a:t>
            </a:r>
            <a:endParaRPr lang="en-US" sz="1700" dirty="0"/>
          </a:p>
          <a:p>
            <a:pPr marL="342900" indent="-342900">
              <a:spcAft>
                <a:spcPts val="1400"/>
              </a:spcAft>
              <a:buSzPct val="100000"/>
              <a:buChar char="•"/>
            </a:pPr>
            <a:r>
              <a:rPr lang="en-US" sz="1700" dirty="0">
                <a:solidFill>
                  <a:schemeClr val="tx1"/>
                </a:solidFill>
              </a:rPr>
              <a:t>Multiple imputation for missing values</a:t>
            </a:r>
            <a:endParaRPr lang="en-US" sz="1700" dirty="0"/>
          </a:p>
          <a:p>
            <a:pPr marL="342900" indent="-342900">
              <a:spcAft>
                <a:spcPts val="1400"/>
              </a:spcAft>
              <a:buSzPct val="100000"/>
              <a:buChar char="•"/>
            </a:pPr>
            <a:r>
              <a:rPr lang="en-US" sz="1700" dirty="0">
                <a:solidFill>
                  <a:schemeClr val="tx1"/>
                </a:solidFill>
              </a:rPr>
              <a:t>External validation on the Hungarian, Swiss and VA files</a:t>
            </a:r>
            <a:endParaRPr lang="en-US" sz="1700" dirty="0"/>
          </a:p>
          <a:p>
            <a:pPr marL="342900" indent="-342900">
              <a:spcAft>
                <a:spcPts val="1400"/>
              </a:spcAft>
              <a:buSzPct val="100000"/>
              <a:buChar char="•"/>
            </a:pPr>
            <a:r>
              <a:rPr lang="en-US" sz="1700" dirty="0">
                <a:solidFill>
                  <a:schemeClr val="tx1"/>
                </a:solidFill>
              </a:rPr>
              <a:t>Subgroup and fairness analysis (206 men vs 97 women)</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822960"/>
          </a:xfrm>
          <a:prstGeom prst="rect">
            <a:avLst/>
          </a:prstGeom>
          <a:noFill/>
          <a:ln/>
        </p:spPr>
        <p:txBody>
          <a:bodyPr wrap="square" lIns="0" tIns="0" rIns="0" bIns="0" rtlCol="0" anchor="ctr"/>
          <a:lstStyle/>
          <a:p>
            <a:pPr algn="l" indent="0" marL="0">
              <a:buNone/>
            </a:pPr>
            <a:r>
              <a:rPr lang="en-US" sz="3800" b="1" dirty="0">
                <a:solidFill>
                  <a:schemeClr val="bg1"/>
                </a:solidFill>
                <a:latin typeface="Cambria" pitchFamily="34" charset="0"/>
                <a:ea typeface="Cambria" pitchFamily="34" charset="-122"/>
                <a:cs typeface="Cambria" pitchFamily="34" charset="-120"/>
              </a:rPr>
              <a:t>Conclusion</a:t>
            </a:r>
            <a:endParaRPr lang="en-US" sz="3800" dirty="0"/>
          </a:p>
        </p:txBody>
      </p:sp>
      <p:sp>
        <p:nvSpPr>
          <p:cNvPr id="3" name="conclusion dot 1"/>
          <p:cNvSpPr/>
          <p:nvPr/>
        </p:nvSpPr>
        <p:spPr>
          <a:xfrm>
            <a:off x="731520" y="1828800"/>
            <a:ext cx="365760" cy="365760"/>
          </a:xfrm>
          <a:prstGeom prst="ellipse">
            <a:avLst/>
          </a:prstGeom>
          <a:solidFill>
            <a:schemeClr val="accent1"/>
          </a:solidFill>
          <a:ln/>
        </p:spPr>
      </p:sp>
      <p:sp>
        <p:nvSpPr>
          <p:cNvPr id="4" name="Text 2"/>
          <p:cNvSpPr txBox="1"/>
          <p:nvPr/>
        </p:nvSpPr>
        <p:spPr>
          <a:xfrm>
            <a:off x="731520" y="2423160"/>
            <a:ext cx="3291840" cy="8229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Same ranking</a:t>
            </a:r>
            <a:endParaRPr lang="en-US" sz="2200" dirty="0"/>
          </a:p>
        </p:txBody>
      </p:sp>
      <p:sp>
        <p:nvSpPr>
          <p:cNvPr id="5" name="Text 3"/>
          <p:cNvSpPr txBox="1"/>
          <p:nvPr/>
        </p:nvSpPr>
        <p:spPr>
          <a:xfrm>
            <a:off x="731520" y="3291840"/>
            <a:ext cx="3291840" cy="1463040"/>
          </a:xfrm>
          <a:prstGeom prst="rect">
            <a:avLst/>
          </a:prstGeom>
          <a:noFill/>
          <a:ln/>
        </p:spPr>
        <p:txBody>
          <a:bodyPr wrap="square" lIns="0" tIns="0" rIns="0" bIns="0" rtlCol="0" anchor="t"/>
          <a:lstStyle/>
          <a:p>
            <a:pPr indent="0" marL="0">
              <a:buNone/>
            </a:pPr>
            <a:r>
              <a:rPr lang="en-US" sz="1600" dirty="0">
                <a:solidFill>
                  <a:schemeClr val="accent6"/>
                </a:solidFill>
              </a:rPr>
              <a:t>All three models reach ROC AUC ≈ 0.90; no difference is distinguishable from zero.</a:t>
            </a:r>
            <a:endParaRPr lang="en-US" sz="1600" dirty="0"/>
          </a:p>
        </p:txBody>
      </p:sp>
      <p:sp>
        <p:nvSpPr>
          <p:cNvPr id="6" name="conclusion dot 2"/>
          <p:cNvSpPr/>
          <p:nvPr/>
        </p:nvSpPr>
        <p:spPr>
          <a:xfrm>
            <a:off x="4389120" y="1828800"/>
            <a:ext cx="365760" cy="365760"/>
          </a:xfrm>
          <a:prstGeom prst="ellipse">
            <a:avLst/>
          </a:prstGeom>
          <a:solidFill>
            <a:schemeClr val="accent3"/>
          </a:solidFill>
          <a:ln/>
        </p:spPr>
      </p:sp>
      <p:sp>
        <p:nvSpPr>
          <p:cNvPr id="7" name="Text 5"/>
          <p:cNvSpPr txBox="1"/>
          <p:nvPr/>
        </p:nvSpPr>
        <p:spPr>
          <a:xfrm>
            <a:off x="4389120" y="2423160"/>
            <a:ext cx="3291840" cy="8229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Better probabilities from the MLP</a:t>
            </a:r>
            <a:endParaRPr lang="en-US" sz="2200" dirty="0"/>
          </a:p>
        </p:txBody>
      </p:sp>
      <p:sp>
        <p:nvSpPr>
          <p:cNvPr id="8" name="Text 6"/>
          <p:cNvSpPr txBox="1"/>
          <p:nvPr/>
        </p:nvSpPr>
        <p:spPr>
          <a:xfrm>
            <a:off x="4389120" y="3291840"/>
            <a:ext cx="3291840" cy="1463040"/>
          </a:xfrm>
          <a:prstGeom prst="rect">
            <a:avLst/>
          </a:prstGeom>
          <a:noFill/>
          <a:ln/>
        </p:spPr>
        <p:txBody>
          <a:bodyPr wrap="square" lIns="0" tIns="0" rIns="0" bIns="0" rtlCol="0" anchor="t"/>
          <a:lstStyle/>
          <a:p>
            <a:pPr indent="0" marL="0">
              <a:buNone/>
            </a:pPr>
            <a:r>
              <a:rPr lang="en-US" sz="1600" dirty="0">
                <a:solidFill>
                  <a:schemeClr val="accent6"/>
                </a:solidFill>
              </a:rPr>
              <a:t>Best Brier, log loss and calibration slope; BN and Naive Bayes are over-confident.</a:t>
            </a:r>
            <a:endParaRPr lang="en-US" sz="1600" dirty="0"/>
          </a:p>
        </p:txBody>
      </p:sp>
      <p:sp>
        <p:nvSpPr>
          <p:cNvPr id="9" name="conclusion dot 3"/>
          <p:cNvSpPr/>
          <p:nvPr/>
        </p:nvSpPr>
        <p:spPr>
          <a:xfrm>
            <a:off x="8046720" y="1828800"/>
            <a:ext cx="365760" cy="365760"/>
          </a:xfrm>
          <a:prstGeom prst="ellipse">
            <a:avLst/>
          </a:prstGeom>
          <a:solidFill>
            <a:schemeClr val="accent4"/>
          </a:solidFill>
          <a:ln/>
        </p:spPr>
      </p:sp>
      <p:sp>
        <p:nvSpPr>
          <p:cNvPr id="10" name="Text 8"/>
          <p:cNvSpPr txBox="1"/>
          <p:nvPr/>
        </p:nvSpPr>
        <p:spPr>
          <a:xfrm>
            <a:off x="8046720" y="2423160"/>
            <a:ext cx="3291840" cy="8229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No clinical claim</a:t>
            </a:r>
            <a:endParaRPr lang="en-US" sz="2200" dirty="0"/>
          </a:p>
        </p:txBody>
      </p:sp>
      <p:sp>
        <p:nvSpPr>
          <p:cNvPr id="11" name="Text 9"/>
          <p:cNvSpPr txBox="1"/>
          <p:nvPr/>
        </p:nvSpPr>
        <p:spPr>
          <a:xfrm>
            <a:off x="8046720" y="3291840"/>
            <a:ext cx="3291840" cy="1463040"/>
          </a:xfrm>
          <a:prstGeom prst="rect">
            <a:avLst/>
          </a:prstGeom>
          <a:noFill/>
          <a:ln/>
        </p:spPr>
        <p:txBody>
          <a:bodyPr wrap="square" lIns="0" tIns="0" rIns="0" bIns="0" rtlCol="0" anchor="t"/>
          <a:lstStyle/>
          <a:p>
            <a:pPr indent="0" marL="0">
              <a:buNone/>
            </a:pPr>
            <a:r>
              <a:rPr lang="en-US" sz="1600" dirty="0">
                <a:solidFill>
                  <a:schemeClr val="accent6"/>
                </a:solidFill>
              </a:rPr>
              <a:t>A careful, reproducible academic comparison on 303 patients, not a diagnostic tool.</a:t>
            </a:r>
            <a:endParaRPr lang="en-US" sz="1600" dirty="0"/>
          </a:p>
        </p:txBody>
      </p:sp>
      <p:sp>
        <p:nvSpPr>
          <p:cNvPr id="12" name="Text 10"/>
          <p:cNvSpPr txBox="1"/>
          <p:nvPr/>
        </p:nvSpPr>
        <p:spPr>
          <a:xfrm>
            <a:off x="731520" y="5394960"/>
            <a:ext cx="10698480" cy="73152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Thank you. Questions?</a:t>
            </a:r>
            <a:endParaRPr lang="en-US" sz="3000" dirty="0"/>
          </a:p>
        </p:txBody>
      </p:sp>
    </p:spTree>
  </p:cSld>
  <p:clrMapOvr>
    <a:masterClrMapping/>
  </p:clrMapOvr>
</p:sld>
</file>

<file path=ppt/theme/theme1.xml><?xml version="1.0" encoding="utf-8"?>
<a:theme xmlns:a="http://schemas.openxmlformats.org/drawingml/2006/main" name="Cardio Ink">
  <a:themeElements>
    <a:clrScheme name="Cardio Ink">
      <a:dk1>
        <a:srgbClr val="1B2130"/>
      </a:dk1>
      <a:lt1>
        <a:srgbClr val="FFFFFF"/>
      </a:lt1>
      <a:dk2>
        <a:srgbClr val="141A26"/>
      </a:dk2>
      <a:lt2>
        <a:srgbClr val="F2F3F6"/>
      </a:lt2>
      <a:accent1>
        <a:srgbClr val="0072B2"/>
      </a:accent1>
      <a:accent2>
        <a:srgbClr val="E69F00"/>
      </a:accent2>
      <a:accent3>
        <a:srgbClr val="009E73"/>
      </a:accent3>
      <a:accent4>
        <a:srgbClr val="A3172F"/>
      </a:accent4>
      <a:accent5>
        <a:srgbClr val="5B6475"/>
      </a:accent5>
      <a:accent6>
        <a:srgbClr val="D5D9E0"/>
      </a:accent6>
      <a:hlink>
        <a:srgbClr val="0072B2"/>
      </a:hlink>
      <a:folHlink>
        <a:srgbClr val="5B6475"/>
      </a:folHlink>
    </a:clrScheme>
    <a:fontScheme name="Cardio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 Disease Risk Modelling</dc:title>
  <dc:subject>Bayesian network, Naive Bayes and MLP on the UCI Cleveland data</dc:subject>
  <dc:creator>PptxGenJS</dc:creator>
  <cp:lastModifiedBy>PptxGenJS</cp:lastModifiedBy>
  <cp:revision>1</cp:revision>
  <dcterms:created xsi:type="dcterms:W3CDTF">2026-10-26T08:33:26Z</dcterms:created>
  <dcterms:modified xsi:type="dcterms:W3CDTF">2026-10-26T08:33:26Z</dcterms:modified>
</cp:coreProperties>
</file>